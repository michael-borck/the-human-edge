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notesMaster" Target="notesMasters/notesMaster1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Welcome everyone. Today is about </a:t>
            </a:r>
            <a:r>
              <a:rPr i="1"/>
              <a:t>doing</a:t>
            </a:r>
            <a:r>
              <a:rPr/>
              <a:t>, not just listening.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One idea, applied at two scales: at your desk in the morning, across a project in the afternoon.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one idea: AI produces a convincing average. Knowing when to trust it, and where </a:t>
            </a:r>
            <a:r>
              <a:rPr i="1"/>
              <a:t>you</a:t>
            </a:r>
            <a:r>
              <a:rPr/>
              <a:t> must stay in charge, is the skill that lasts. Tools don’t; judgement does.</a:t>
            </a:r>
          </a:p>
          <a:p>
            <a:pPr lvl="0" indent="0" marL="0">
              <a:buNone/>
            </a:pPr>
          </a:p>
          <a:p>
            <a:pPr lvl="0"/>
            <a:r>
              <a:rPr/>
              <a:t>Bring your device. You’ll work on your own tasks and on a real project scenario.</a:t>
            </a:r>
          </a:p>
          <a:p>
            <a:pPr lvl="0" indent="0" marL="0">
              <a:buNone/>
            </a:pPr>
          </a:p>
          <a:p>
            <a:pPr lvl="0"/>
            <a:r>
              <a:rPr/>
              <a:t>Ground rule: no stupid questions. The technology is new and everyone is figuring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Hold this question. We’ll come back to it at the end of every session.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the day builds toward: your edge lives in your judgement, your taste, and the variation a rival’s identical model can’t reproduce.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today — from your first prompt to a project go/no-go — is in service of </a:t>
            </a:r>
            <a:r>
              <a:rPr i="1"/>
              <a:t>locating and protecting</a:t>
            </a:r>
            <a:r>
              <a:rPr/>
              <a:t> that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trust tool is the connective tissue. We learn it once this morning at the level of a single task (“do I trust this output?”), and we reuse it this afternoon at the level of a whole project (“where does a human stay in the loop?”).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grid, two scales. That’s why this works as one coherent day rather than two crammed together.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morning builds the fluency; the afternoon applies it to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Part one is personal fluency. By lunch you’ll have directed AI at your own work, judged how far to trust the output, and redesigned one real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don’t need the maths. You need an honest mental model: what the tool can and can’t do.</a:t>
            </a:r>
          </a:p>
          <a:p>
            <a:pPr lvl="0" indent="0" marL="0">
              <a:buNone/>
            </a:pPr>
          </a:p>
          <a:p>
            <a:pPr lvl="0"/>
            <a:r>
              <a:rPr/>
              <a:t>Driving a car well doesn’t require knowing how the engine works — but you do need to know it needs fuel and won’t go underwater.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single distinction carries the whole day. If you remember nothing else: it produces a convincing average, and a convincing average is not the same as the truth.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that follows — the trust tool, prompting, the five differences, the human-in-the-loop design — is an elaboration of this one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a task has clear patterns, AI can probably help. There are billions of email examples, summaries, and explanations in the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critical point: AI never says “I don’t know.” It gives you a confident, well-structured, completely wrong answer — and it looks identical to a right one.</a:t>
            </a:r>
          </a:p>
          <a:p>
            <a:pPr lvl="0" indent="0" marL="0">
              <a:buNone/>
            </a:pPr>
          </a:p>
          <a:p>
            <a:pPr lvl="0"/>
            <a:r>
              <a:rPr/>
              <a:t>Nothing in the tone warns you. That’s the danger: not that it refuses to help, but that it helps convincingly when it shouldn’t.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you take one thing from this morning: AI output needs human verification. Always — especially facts, numbers, names, quotes, and references.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isn’t something a future model will “fix.” It’s a property of how the technology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Two questions turn “can we just let the AI do this?” from a gut feel into a decision you can defend.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grid is the spine of the day. We use it at the task level this morning and the project level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through the grid: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Small → lean in. AI’s home turf.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Large → lean in, but sanity-check before it goes out.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Small → use, then verify the specifics.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Large → human in the loop. AI may assist, but a person owns the decision.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Rule of thumb: lean in where “about right” over low stakes is fine; keep a human in the loop where exactly-right meets high-stakes.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Notice what the grid quietly does: it makes “where does a human stay in the loop?” an </a:t>
            </a:r>
            <a:r>
              <a:rPr i="1"/>
              <a:t>answerable</a:t>
            </a:r>
            <a:r>
              <a:rPr/>
              <a:t> question. Most teams answer it by gut — everywhere (lose speed) or nowhere (lose trust).</a:t>
            </a:r>
          </a:p>
          <a:p>
            <a:pPr lvl="0" indent="0" marL="0">
              <a:buNone/>
            </a:pPr>
          </a:p>
          <a:p>
            <a:pPr lvl="0"/>
            <a:r>
              <a:rPr/>
              <a:t>Now you have a better answer than yes or no. You have a question — average or precise, small or large? — and the question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Setup (2 min):</a:t>
            </a:r>
            <a:r>
              <a:rPr/>
              <a:t> - Pick a real, small task from your work — an email, a summary, a first draft of something you genuinely need. - Run it through an AI tool.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Do (8 min):</a:t>
            </a:r>
            <a:r>
              <a:rPr/>
              <a:t> - Look at the output. Where on the trust tool grid does this task sit? - Is the output “about right” or does it need exactness? Where would it be confidently wrong?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 (10 min):</a:t>
            </a:r>
            <a:r>
              <a:rPr/>
              <a:t> - Share one place the output was genuinely useful, and one place it was confidently off. - Connect each to a corner of the grid. - Key message: there’s no objectively “best” tool. What matters is never assuming the first output is ready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Most people type vague prompts, get vague results, and blame the tool.</a:t>
            </a:r>
          </a:p>
          <a:p>
            <a:pPr lvl="0" indent="0" marL="0">
              <a:buNone/>
            </a:pPr>
          </a:p>
          <a:p>
            <a:pPr lvl="0"/>
            <a:r>
              <a:rPr/>
              <a:t>Not every prompt needs all four. But for anything important, all four transform the result.</a:t>
            </a:r>
          </a:p>
          <a:p>
            <a:pPr lvl="0" indent="0" marL="0">
              <a:buNone/>
            </a:pPr>
          </a:p>
          <a:p>
            <a:pPr lvl="0"/>
            <a:r>
              <a:rPr/>
              <a:t>RTCF isn’t a trick — it’s just being clear about what you actually want, which is the skill underneath all good prompting.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difference is unusable vs. sendable.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Context is where </a:t>
            </a:r>
            <a:r>
              <a:rPr i="1"/>
              <a:t>your</a:t>
            </a:r>
            <a:r>
              <a:rPr/>
              <a:t> edge enters: the specifics only you hold — the relationship, the history, the tone this client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thesis, felt in the gut rather than heard as a quote.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1 shows the baseline: generic, competent, anyone-could-have-it.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2 shows the edge: the variation the tool can’t manufacture.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 it interactive — let the room shout the “edge” inputs.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lesson: the AI is your starting point, not your finish line. Your judgement, taste and relationships are what turn generic into </a:t>
            </a:r>
            <a:r>
              <a:rPr i="1"/>
              <a:t>yours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(20 min):</a:t>
            </a:r>
            <a:r>
              <a:rPr/>
              <a:t> 1. Pick a task you do repeatedly — one you own. 2. List its steps. 3. For each step: where does it sit on the trust tool? Where does AI genuinely help, and where must your judgement stay in charge? 4. Redesign: let AI handle the average, low-stakes steps. Protect the precise, high-stakes ones.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Debrief:</a:t>
            </a:r>
            <a:r>
              <a:rPr/>
              <a:t> - You leave with a redesigned workflow you can trial next week — AI at the steps where it adds value, you in charge where it counts. - This is the morning’s takeaway applied: not “use AI more,” but “use AI </a:t>
            </a:r>
            <a:r>
              <a:rPr i="1"/>
              <a:t>deliberately</a:t>
            </a:r>
            <a:r>
              <a:rPr/>
              <a:t>, exactly where it belongs.”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Bridge to the afternoon: the trust tool doesn’t stop at your desk. It scales.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afternoon we lift the same grid to the project level — where the question becomes “where does a human stay in the loop across an entire AI initiative?”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idea, bigger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afternoon is for anyone who will lead, scope, or contribute to an AI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You’re the delivery lead for one funded RetailFlow initiative. You’ll carry it through to a go/no-go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reassurance: AI projects don’t fail </a:t>
            </a:r>
            <a:r>
              <a:rPr i="1"/>
              <a:t>more</a:t>
            </a:r>
            <a:r>
              <a:rPr/>
              <a:t> often. They fail </a:t>
            </a:r>
            <a:r>
              <a:rPr i="1"/>
              <a:t>differently</a:t>
            </a:r>
            <a:r>
              <a:rPr/>
              <a:t>. The cracks appear in different places.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If you don’t adjust for the five, the project doesn’t fail more — it fails in ways you didn’t see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the table. For each: the assumption, why AI breaks it, the move good leaders make.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thread through all five: AI gives you something fluent and roughly-right, fast — then asks you to do the harder work of deciding when roughly-right is good enough, and who checks when it isn’t. That’s a leadership question, not a technical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at project scale: you can’t tick a box, you have to set an acceptable band and monitor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gap between an impressive demonstration and a dependable production system is wide and deceptive.</a:t>
            </a:r>
          </a:p>
          <a:p>
            <a:pPr lvl="0" indent="0" marL="0">
              <a:buNone/>
            </a:pPr>
          </a:p>
          <a:p>
            <a:pPr lvl="0"/>
            <a:r>
              <a:rPr/>
              <a:t>Sponsors see the demo and assume the rest is engineering. It isn’t.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On an ordinary project, data is something you order. On an AI project, data is something you find — and it’s rarely what you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again: “where does a human stay in the loop?” is a </a:t>
            </a:r>
            <a:r>
              <a:rPr i="1"/>
              <a:t>design decision</a:t>
            </a:r>
            <a:r>
              <a:rPr/>
              <a:t>, not something to figure out after something goes wrong.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</a:t>
            </a:r>
            <a:r>
              <a:rPr i="1"/>
              <a:t>are</a:t>
            </a:r>
            <a:r>
              <a:rPr/>
              <a:t> the product. A system without them is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morning’s thesis, at organisational scale.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edge isn’t the model. It’s the judgement you design into the project — and the data, processes and people that are uniquely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 here. The five differences are not cause for alarm or hype. They just describe where the cracks appear.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 standard PM tool still applies — it just </a:t>
            </a:r>
            <a:r>
              <a:rPr i="1"/>
              <a:t>bends</a:t>
            </a:r>
            <a:r>
              <a:rPr/>
              <a:t> under these five forces. The afternoon is about learning the bend.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Each group takes a different initiative, so no two designs look alike.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bots are fluent and confident even when they don’t know — exactly the AI behaviour you’re learning to lead. Treat what they tell you with the same scrutiny as any AI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differences 1 and 3 in action: define “good enough” as a band, and treat data as discovery.</a:t>
            </a:r>
          </a:p>
          <a:p>
            <a:pPr lvl="0" indent="0" marL="0">
              <a:buNone/>
            </a:pPr>
          </a:p>
          <a:p>
            <a:pPr lvl="0"/>
            <a:r>
              <a:rPr/>
              <a:t>Push back on both. Marcus wants speed; Priya wants realism. A good plan reconciles them — don’t take either as gospel.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and difference 4 in action: design the checking deliberately. Where does verification sit? Where must a person own the decision?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are part of the product, not an afterthought.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question at each gate isn’t “is it perfect?” It’s whether the evidence justifies continuing.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Killing a project that isn’t working, early, is success — not failure. The cost of wrongly scaling is far higher than the cost of wrongly killing.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Normalise killing. A portfolio that never kills is a portfolio that can’t learn.</a:t>
            </a:r>
          </a:p>
          <a:p>
            <a:pPr lvl="0" indent="0" marL="0">
              <a:buNone/>
            </a:pPr>
          </a:p>
          <a:p>
            <a:pPr lvl="0"/>
            <a:r>
              <a:rPr/>
              <a:t>Frame it to your sponsor as disciplined decision-making under uncertainty, not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Pause. Look at what the trust tool — learned once this morning — became by the afternoon: a whole project’s human-in-the-loop architecture.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grid. Two scales. One coherent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 close where we opened: the provocation.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You’ve spent the day answering this — at your desk and across a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is the same at both scales: your edge lives in the judgement the tool can’t supply.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variation matters precisely because the model produces an average. Averages converge. Variation diverges. Divergence — your taste, your contrarian calls, your specific customers — is where competitive edge survives.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 why hollowing out your team’s expertise for short-term speed is a strategic error, not just an ethical one. You’re deleting the only edge you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Make the commitments specific. Vague plans don’t survive Monday.</a:t>
            </a:r>
          </a:p>
          <a:p>
            <a:pPr lvl="0" indent="0" marL="0">
              <a:buNone/>
            </a:pPr>
          </a:p>
          <a:p>
            <a:pPr lvl="0"/>
            <a:r>
              <a:rPr/>
              <a:t>Trade plans with the person next to you — you’ll check in with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frameworks are the durable part. The specific tools will change; the judgement won’t.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Thank everyone.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2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7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0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5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6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Human 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and Delivering AI with Judgement</a:t>
            </a:r>
            <a:br/>
            <a:br/>
            <a:r>
              <a:rPr/>
              <a:t>Dr. Michael Borck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Human Edge: Using and Delivering AI with Judgement</a:t>
            </a:r>
          </a:p>
          <a:p>
            <a:pPr lvl="0" indent="0" marL="0">
              <a:buNone/>
            </a:pPr>
            <a:r>
              <a:rPr/>
              <a:t>A one-day masterclass · Curtin Executive Education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provocation we’ll spend the day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 b="1"/>
              <a:t>So where does </a:t>
            </a:r>
            <a:r>
              <a:rPr b="1" i="1"/>
              <a:t>your</a:t>
            </a:r>
            <a:r>
              <a:rPr b="1"/>
              <a:t> edge actually live?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idea. Two scales. One day.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do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9:00–10:30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average, the tool, the edge</a:t>
                      </a:r>
                      <a:r>
                        <a:rPr/>
                        <a:t> — foundations + the trust tool </a:t>
                      </a:r>
                      <a:r>
                        <a:rPr i="1"/>
                        <a:t>(taught once)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11:00–12:30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Using AI well, yourself</a:t>
                      </a:r>
                      <a:r>
                        <a:rPr/>
                        <a:t> — task scale: prompting, workflow redesign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1:15–2:30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Why AI delivery is different</a:t>
                      </a:r>
                      <a:r>
                        <a:rPr/>
                        <a:t> — project scale: the five differences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3:00–4:00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Designing the human in, then shipping</a:t>
                      </a:r>
                      <a:r>
                        <a:rPr/>
                        <a:t> — checkpoints, roadmap, go/no-go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4:00–4:30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edge that’s left to humans</a:t>
                      </a:r>
                      <a:r>
                        <a:rPr/>
                        <a:t> + your action plan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 — MORNING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average, the tool, and your edge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AI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simple truth: it predicts the next word.</a:t>
            </a:r>
          </a:p>
          <a:p>
            <a:pPr lvl="0"/>
            <a:r>
              <a:rPr/>
              <a:t>Trained on billions of pages of text, it learned what tends to follow what.</a:t>
            </a:r>
          </a:p>
          <a:p>
            <a:pPr lvl="0"/>
            <a:r>
              <a:rPr/>
              <a:t>It’s autocomplete, scaled up: your phone predicts one word; these predict thousands.</a:t>
            </a:r>
          </a:p>
          <a:p>
            <a:pPr lvl="0"/>
            <a:r>
              <a:rPr/>
              <a:t>The result often </a:t>
            </a:r>
            <a:r>
              <a:rPr i="1"/>
              <a:t>looks</a:t>
            </a:r>
            <a:r>
              <a:rPr/>
              <a:t> like understanding. It’s pattern-matching.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 mental model to keep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produces a </a:t>
            </a:r>
            <a:r>
              <a:rPr sz="2000" b="1"/>
              <a:t>convincing average</a:t>
            </a:r>
            <a:r>
              <a:rPr sz="2000"/>
              <a:t> drawn from everything it has seen.</a:t>
            </a:r>
          </a:p>
          <a:p>
            <a:pPr lvl="0" indent="0" marL="0">
              <a:buNone/>
            </a:pPr>
            <a:r>
              <a:rPr/>
              <a:t>That average is often genuinely excellent — because the average of a vast amount of competent writing is itself competent.</a:t>
            </a:r>
          </a:p>
          <a:p>
            <a:pPr lvl="0" indent="0" marL="0">
              <a:buNone/>
            </a:pPr>
            <a:r>
              <a:rPr b="1"/>
              <a:t>But it is an average, not a truth.</a:t>
            </a:r>
            <a:r>
              <a:rPr/>
              <a:t> It predicts; it does not reason, and it does not “know.”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brilliant at some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where “the most plausible version” is exactly what you want:</a:t>
            </a:r>
          </a:p>
          <a:p>
            <a:pPr lvl="0"/>
            <a:r>
              <a:rPr/>
              <a:t>✅ Drafting and writing</a:t>
            </a:r>
          </a:p>
          <a:p>
            <a:pPr lvl="0"/>
            <a:r>
              <a:rPr/>
              <a:t>✅ Summarising documents</a:t>
            </a:r>
          </a:p>
          <a:p>
            <a:pPr lvl="0"/>
            <a:r>
              <a:rPr/>
              <a:t>✅ Formatting and transforming</a:t>
            </a:r>
          </a:p>
          <a:p>
            <a:pPr lvl="0"/>
            <a:r>
              <a:rPr/>
              <a:t>✅ Brainstorming</a:t>
            </a:r>
          </a:p>
          <a:p>
            <a:pPr lvl="0"/>
            <a:r>
              <a:rPr/>
              <a:t>✅ Explaining concepts in simpler terms</a:t>
            </a:r>
          </a:p>
          <a:p>
            <a:pPr lvl="0"/>
            <a:r>
              <a:rPr/>
              <a:t>✅ Finding patterns in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…and quietly unreliable at others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that need a single correct answer:</a:t>
            </a:r>
          </a:p>
          <a:p>
            <a:pPr lvl="0"/>
            <a:r>
              <a:rPr/>
              <a:t>❌ Factual accuracy (plausible text, not verified truth)</a:t>
            </a:r>
          </a:p>
          <a:p>
            <a:pPr lvl="0"/>
            <a:r>
              <a:rPr/>
              <a:t>❌ Precise figures and calculations</a:t>
            </a:r>
          </a:p>
          <a:p>
            <a:pPr lvl="0"/>
            <a:r>
              <a:rPr/>
              <a:t>❌ Multi-step logical reasoning</a:t>
            </a:r>
          </a:p>
          <a:p>
            <a:pPr lvl="0"/>
            <a:r>
              <a:rPr/>
              <a:t>❌ </a:t>
            </a:r>
            <a:r>
              <a:rPr i="1"/>
              <a:t>Your</a:t>
            </a:r>
            <a:r>
              <a:rPr/>
              <a:t> context — it doesn’t know your company, team, or politics</a:t>
            </a:r>
          </a:p>
          <a:p>
            <a:pPr lvl="0"/>
            <a:r>
              <a:rPr/>
              <a:t>❌ Ethical judgement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“Confident nonsense” is not a bug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 colleague → </a:t>
            </a:r>
            <a:r>
              <a:rPr i="1"/>
              <a:t>“I’m not sure, let me check.”</a:t>
            </a:r>
          </a:p>
          <a:p>
            <a:pPr lvl="0" indent="0" marL="0">
              <a:buNone/>
            </a:pPr>
            <a:r>
              <a:rPr/>
              <a:t>Ask AI → confident, well-structured, completely wrong answer.</a:t>
            </a:r>
          </a:p>
          <a:p>
            <a:pPr lvl="0" indent="0" marL="0">
              <a:buNone/>
            </a:pPr>
            <a:r>
              <a:rPr b="1"/>
              <a:t>Hallucination isn’t a glitch.</a:t>
            </a:r>
            <a:r>
              <a:rPr/>
              <a:t> It’s the same machinery working as designed — sometimes the most plausible-sounding continuation simply isn’t true.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1: the trust tool</a:t>
            </a:r>
          </a:p>
        </p:txBody>
      </p:sp>
      <p:pic>
        <p:nvPicPr>
          <p:cNvPr descr="images/trust-tool-matrix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trust tool: two questions, four corners.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questions, four corners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Q1: do you need an </a:t>
            </a:r>
            <a:r>
              <a:rPr b="1" i="1"/>
              <a:t>average</a:t>
            </a:r>
            <a:r>
              <a:rPr b="1"/>
              <a:t>, or do you need </a:t>
            </a:r>
            <a:r>
              <a:rPr b="1" i="1"/>
              <a:t>precision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average</a:t>
            </a:r>
            <a:r>
              <a:rPr/>
              <a:t> answer is “in the right ballpark” — a first draft, a summary, a starting point. A </a:t>
            </a:r>
            <a:r>
              <a:rPr i="1"/>
              <a:t>precise</a:t>
            </a:r>
            <a:r>
              <a:rPr/>
              <a:t> answer has one correct value: a contract figure, a dosage, a citation, an account balance.</a:t>
            </a:r>
          </a:p>
          <a:p>
            <a:pPr lvl="0" indent="0" marL="0">
              <a:buNone/>
            </a:pPr>
            <a:r>
              <a:rPr b="1"/>
              <a:t>Q2: is the decision </a:t>
            </a:r>
            <a:r>
              <a:rPr b="1" i="1"/>
              <a:t>small</a:t>
            </a:r>
            <a:r>
              <a:rPr b="1"/>
              <a:t> or </a:t>
            </a:r>
            <a:r>
              <a:rPr b="1" i="1"/>
              <a:t>large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 i="1"/>
              <a:t>Small</a:t>
            </a:r>
            <a:r>
              <a:rPr/>
              <a:t> = low stakes, easy to reverse, no one harmed. </a:t>
            </a:r>
            <a:r>
              <a:rPr i="1"/>
              <a:t>Large</a:t>
            </a:r>
            <a:r>
              <a:rPr/>
              <a:t> = real consequences: money, safety, reputation, someone’s job.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tool, on real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Drafting an internal email.</a:t>
            </a:r>
            <a:r>
              <a:rPr/>
              <a:t> Average is fine, stakes small → lean in.</a:t>
            </a:r>
          </a:p>
          <a:p>
            <a:pPr lvl="0"/>
            <a:r>
              <a:rPr b="1"/>
              <a:t>Board paper figures.</a:t>
            </a:r>
            <a:r>
              <a:rPr/>
              <a:t> Precision required, stakes large → human owns every number.</a:t>
            </a:r>
          </a:p>
          <a:p>
            <a:pPr lvl="0"/>
            <a:r>
              <a:rPr b="1"/>
              <a:t>Summarising fifty complaints to find themes.</a:t>
            </a:r>
            <a:r>
              <a:rPr/>
              <a:t> Average is fine → lean in, then have a person skim for the one complaint the AI smoothed away.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1: the AI tool test drive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task. Your tool of choice. Judge the result with the trust tool.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2: RTCF — talking to AI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quality of your input decides the quality of your output.</a:t>
            </a:r>
          </a:p>
          <a:p>
            <a:pPr lvl="0"/>
            <a:r>
              <a:rPr b="1"/>
              <a:t>R</a:t>
            </a:r>
            <a:r>
              <a:rPr/>
              <a:t> — Role (who should the AI be?)</a:t>
            </a:r>
          </a:p>
          <a:p>
            <a:pPr lvl="0"/>
            <a:r>
              <a:rPr b="1"/>
              <a:t>T</a:t>
            </a:r>
            <a:r>
              <a:rPr/>
              <a:t> — Task (what exactly should it do?)</a:t>
            </a:r>
          </a:p>
          <a:p>
            <a:pPr lvl="0"/>
            <a:r>
              <a:rPr b="1"/>
              <a:t>C</a:t>
            </a:r>
            <a:r>
              <a:rPr/>
              <a:t> — Context (what does it need to know?)</a:t>
            </a:r>
          </a:p>
          <a:p>
            <a:pPr lvl="0"/>
            <a:r>
              <a:rPr b="1"/>
              <a:t>F</a:t>
            </a:r>
            <a:r>
              <a:rPr/>
              <a:t> — Format (how should the output look?)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and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Without RTCF:</a:t>
            </a:r>
            <a:r>
              <a:rPr/>
              <a:t> &gt; “Write an email about the project delay”</a:t>
            </a:r>
          </a:p>
          <a:p>
            <a:pPr lvl="0" indent="0" marL="0">
              <a:buNone/>
            </a:pPr>
            <a:r>
              <a:rPr b="1"/>
              <a:t>With RTCF:</a:t>
            </a:r>
            <a:r>
              <a:rPr/>
              <a:t> &gt; </a:t>
            </a:r>
            <a:r>
              <a:rPr b="1"/>
              <a:t>Role:</a:t>
            </a:r>
            <a:r>
              <a:rPr/>
              <a:t> Senior project manager, professional and empathetic &gt; &gt; </a:t>
            </a:r>
            <a:r>
              <a:rPr b="1"/>
              <a:t>Task:</a:t>
            </a:r>
            <a:r>
              <a:rPr/>
              <a:t> Write a client email explaining a 2-week delivery delay &gt; &gt; </a:t>
            </a:r>
            <a:r>
              <a:rPr b="1"/>
              <a:t>Context:</a:t>
            </a:r>
            <a:r>
              <a:rPr/>
              <a:t> Delay caused by a vendor integration. The client values transparency. New date: March 15. &gt; &gt; </a:t>
            </a:r>
            <a:r>
              <a:rPr b="1"/>
              <a:t>Format:</a:t>
            </a:r>
            <a:r>
              <a:rPr/>
              <a:t> Under 200 words. Acknowledge → explain → new date → recommit.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two-pass demo: where your edge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run </a:t>
            </a:r>
            <a:r>
              <a:rPr b="1"/>
              <a:t>one real task twice</a:t>
            </a:r>
            <a:r>
              <a:rPr/>
              <a:t>, live.</a:t>
            </a:r>
          </a:p>
          <a:p>
            <a:pPr lvl="0" indent="0" marL="0">
              <a:buNone/>
            </a:pPr>
            <a:r>
              <a:rPr b="1"/>
              <a:t>Pass 1 — generic.</a:t>
            </a:r>
            <a:r>
              <a:rPr/>
              <a:t> A naive prompt. The output is slick, correct… and </a:t>
            </a:r>
            <a:r>
              <a:rPr i="1"/>
              <a:t>identical to what anyone in this room would get.</a:t>
            </a:r>
          </a:p>
          <a:p>
            <a:pPr lvl="0" indent="0" marL="1270000">
              <a:buNone/>
            </a:pPr>
            <a:r>
              <a:rPr sz="2000"/>
              <a:t>“This is good. Every one of you got this same good answer. So where’s your edge?”</a:t>
            </a:r>
          </a:p>
          <a:p>
            <a:pPr lvl="0" indent="0" marL="0">
              <a:buNone/>
            </a:pPr>
            <a:r>
              <a:rPr b="1"/>
              <a:t>Pass 2 — with edge.</a:t>
            </a:r>
            <a:r>
              <a:rPr/>
              <a:t> Layer in what only </a:t>
            </a:r>
            <a:r>
              <a:rPr i="1"/>
              <a:t>you</a:t>
            </a:r>
            <a:r>
              <a:rPr/>
              <a:t> hold — a customer only you’ve talked to, a contrarian bet, a taste call, domain knowledge the model lacks. Watch the output get a soul.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2: redesign your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Pick one real task from your own role. Map it. Put AI where it helps.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Morning recap: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now have:</a:t>
            </a:r>
          </a:p>
          <a:p>
            <a:pPr lvl="0"/>
            <a:r>
              <a:rPr/>
              <a:t>A mental model: AI produces a convincing average.</a:t>
            </a:r>
          </a:p>
          <a:p>
            <a:pPr lvl="0"/>
            <a:r>
              <a:rPr b="1"/>
              <a:t>The trust tool</a:t>
            </a:r>
            <a:r>
              <a:rPr/>
              <a:t> — average/precise × small/large.</a:t>
            </a:r>
          </a:p>
          <a:p>
            <a:pPr lvl="0"/>
            <a:r>
              <a:rPr b="1"/>
              <a:t>RTCF</a:t>
            </a:r>
            <a:r>
              <a:rPr/>
              <a:t> — how to direct AI well.</a:t>
            </a:r>
          </a:p>
          <a:p>
            <a:pPr lvl="0"/>
            <a:r>
              <a:rPr/>
              <a:t>A redesigned workflow from your own role.</a:t>
            </a:r>
          </a:p>
          <a:p>
            <a:pPr lvl="0" indent="0" marL="0">
              <a:buNone/>
            </a:pPr>
            <a:r>
              <a:rPr b="1"/>
              <a:t>One question to carry into the afternoon:</a:t>
            </a:r>
            <a:r>
              <a:rPr/>
              <a:t> </a:t>
            </a:r>
            <a:r>
              <a:rPr i="1"/>
              <a:t>if this is how I trust AI on a single task, how do I trust it across a whole project?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 — AFTERNOON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AI delivery is different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fair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I’ve delivered projects before. What’s actually different about an AI project?</a:t>
            </a:r>
          </a:p>
          <a:p>
            <a:pPr lvl="0" indent="0" marL="0">
              <a:buNone/>
            </a:pPr>
            <a:r>
              <a:rPr/>
              <a:t>Most of your instincts still serve you. Stakeholders, budgets, timelines, the awkward sponsor conversation — all carry over.</a:t>
            </a:r>
          </a:p>
          <a:p>
            <a:pPr lvl="0" indent="0" marL="0">
              <a:buNone/>
            </a:pPr>
            <a:r>
              <a:rPr b="1"/>
              <a:t>But five things behave differently</a:t>
            </a:r>
            <a:r>
              <a:rPr/>
              <a:t>, and each quietly breaks an assumption normal projects let you take for granted.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differences</a:t>
            </a:r>
          </a:p>
        </p:txBody>
      </p:sp>
      <p:pic>
        <p:nvPicPr>
          <p:cNvPr descr="images/five-differences-summary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For each assumption a normal project relies on, why AI breaks it, and the leadership 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1: “done” can’t be specified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Write the requirement, check it was met.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is non-deterministic. Ask twice, get two answers. No single correct output — only a spread of likely ones.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Stop chasing a fixed “done.” Manage a probability distribution. Decide up front what “good enough” looks like </a:t>
                      </a:r>
                      <a:r>
                        <a:rPr i="1"/>
                        <a:t>for this use</a:t>
                      </a:r>
                      <a:r>
                        <a:rPr/>
                        <a:t>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2: the demo is a trap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working demo means we’re nearly there.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demo shows the happy path. The messy real-world cases are where it falls over. Progress feels real but is largely illusory.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 the demo as the </a:t>
                      </a:r>
                      <a:r>
                        <a:rPr i="1"/>
                        <a:t>start</a:t>
                      </a:r>
                      <a:r>
                        <a:rPr/>
                        <a:t> of the hard part, not the end. Refuse to let an impressive demo set the timeline.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3: the data is the uncertainty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a known input. We specify it, someone supplies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</a:t>
                      </a:r>
                      <a:r>
                        <a:rPr i="1"/>
                        <a:t>the</a:t>
                      </a:r>
                      <a:r>
                        <a:rPr/>
                        <a:t> uncertainty. You discover what you actually have — its gaps, biases, surprises — only by working with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delivery as organisational discovery. Build the learning into the plan, don’t treat it as slippage.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4: verification is the product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build is the product. Ship the thing, you’re finished.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 AI, outputs vary and can be confidently wrong. The value lives in how you check them, and where a human stays in the loop.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the checking deliberately. Make it part of what you ship, not an afterthought.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5: generic competence is the baseline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we build something clever, that’s our edge.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every rival can run the same models, the model isn’t your advantage — anyone can have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Compete on the human variation a rival’s identical model can’t reproduce: your taste, your judgement, how your people apply it.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thread through all five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gives you something fluent, plausible, and </a:t>
            </a:r>
            <a:r>
              <a:rPr sz="2000" i="1"/>
              <a:t>roughly</a:t>
            </a:r>
            <a:r>
              <a:rPr sz="2000"/>
              <a:t> right, fast — then asks you to do the harder work of deciding when roughly-right is good enough, and who checks when it isn’t.</a:t>
            </a:r>
          </a:p>
          <a:p>
            <a:pPr lvl="0" indent="0" marL="0">
              <a:buNone/>
            </a:pPr>
            <a:r>
              <a:rPr/>
              <a:t>That’s a </a:t>
            </a:r>
            <a:r>
              <a:rPr b="1"/>
              <a:t>leadership question</a:t>
            </a:r>
            <a:r>
              <a:rPr/>
              <a:t>, not a technical one. Which is exactly why it lands on your desk.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project: RetailFlow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the </a:t>
            </a:r>
            <a:r>
              <a:rPr b="1"/>
              <a:t>delivery lead</a:t>
            </a:r>
            <a:r>
              <a:rPr/>
              <a:t>. The board has funded one AI initiative at RetailFlow. Ship it without the predictable failures.</a:t>
            </a:r>
          </a:p>
          <a:p>
            <a:pPr lvl="0" indent="0" marL="0">
              <a:buNone/>
            </a:pPr>
            <a:r>
              <a:rPr/>
              <a:t>You’ll carry one project through three moves, scoping and stress-testing it by </a:t>
            </a:r>
            <a:r>
              <a:rPr b="1"/>
              <a:t>interviewing the RetailFlow team</a:t>
            </a:r>
            <a:r>
              <a:rPr/>
              <a:t> — live AI chatbots who have opinions, disagree with each other, and won’t do your job for you.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1: scope it against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Priya</a:t>
            </a:r>
            <a:r>
              <a:rPr/>
              <a:t> (Data) and </a:t>
            </a:r>
            <a:r>
              <a:rPr b="1"/>
              <a:t>Marcus</a:t>
            </a:r>
            <a:r>
              <a:rPr/>
              <a:t> (CIO). Reconcile “move fast” with “the data isn’t ready.”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Scoped objectives, data requirements, and a defined “good enough.”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2: stakeholders &amp; human-in-the-loop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Emma</a:t>
            </a:r>
            <a:r>
              <a:rPr/>
              <a:t> (MD), </a:t>
            </a:r>
            <a:r>
              <a:rPr b="1"/>
              <a:t>Tom</a:t>
            </a:r>
            <a:r>
              <a:rPr/>
              <a:t> (Customer Service), and </a:t>
            </a:r>
            <a:r>
              <a:rPr b="1"/>
              <a:t>David</a:t>
            </a:r>
            <a:r>
              <a:rPr/>
              <a:t> (CFO). Decide where a human must stay in charge.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A stakeholder plan and a human-in-the-loop checkpoint design.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3: roadmap, risk &amp; the go/no-go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delivery roadmap with </a:t>
            </a:r>
            <a:r>
              <a:rPr b="1"/>
              <a:t>go/no-go gates</a:t>
            </a:r>
            <a:r>
              <a:rPr/>
              <a:t> and a risk register.</a:t>
            </a:r>
          </a:p>
          <a:p>
            <a:pPr lvl="0" indent="0" marL="0">
              <a:buNone/>
            </a:pPr>
            <a:r>
              <a:rPr/>
              <a:t>Then make the call: </a:t>
            </a:r>
            <a:r>
              <a:rPr b="1"/>
              <a:t>Scale, Pivot, or Kill.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/ Pivot / Kill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 — the evidence supports it. Move toward production, with governance and monitoring that grow with the system.</a:t>
            </a:r>
          </a:p>
          <a:p>
            <a:pPr lvl="0"/>
            <a:r>
              <a:rPr b="1"/>
              <a:t>Pivot</a:t>
            </a:r>
            <a:r>
              <a:rPr/>
              <a:t> — the idea is right but the approach isn’t. Change the shape, keep the intent.</a:t>
            </a:r>
          </a:p>
          <a:p>
            <a:pPr lvl="0"/>
            <a:r>
              <a:rPr b="1"/>
              <a:t>Kill</a:t>
            </a:r>
            <a:r>
              <a:rPr/>
              <a:t> — it isn’t working. Stop early, before it consumes more budget and goodwill. </a:t>
            </a:r>
            <a:r>
              <a:rPr i="1"/>
              <a:t>This is a good outcome.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you’ve built by 4:00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delivery design for a real AI project</a:t>
            </a:r>
            <a:r>
              <a:rPr/>
              <a:t>, not a theory to apply later:</a:t>
            </a:r>
          </a:p>
          <a:p>
            <a:pPr lvl="0"/>
            <a:r>
              <a:rPr/>
              <a:t>Scoped objectives, data requirements, and a defined “good enough”</a:t>
            </a:r>
          </a:p>
          <a:p>
            <a:pPr lvl="0"/>
            <a:r>
              <a:rPr/>
              <a:t>A delivery roadmap with milestones and go/no-go gates</a:t>
            </a:r>
          </a:p>
          <a:p>
            <a:pPr lvl="0"/>
            <a:r>
              <a:rPr/>
              <a:t>A stakeholder plan and a human-in-the-loop checkpoint design</a:t>
            </a:r>
          </a:p>
          <a:p>
            <a:pPr lvl="0"/>
            <a:r>
              <a:rPr/>
              <a:t>A risk register and a Scale/Pivot/Kill decision you can defend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III —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edge that’s left to humans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 to the provocation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/>
              <a:t>So where does your edge live?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edge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 the task:</a:t>
            </a:r>
            <a:r>
              <a:rPr/>
              <a:t> knowing what to ask for, what to keep, what to throw away. (RTCF, the trust tool.)</a:t>
            </a:r>
          </a:p>
          <a:p>
            <a:pPr lvl="0"/>
            <a:r>
              <a:rPr b="1"/>
              <a:t>At the workflow:</a:t>
            </a:r>
            <a:r>
              <a:rPr/>
              <a:t> deciding where AI handles the average and your thinking stays in charge. (Your redesigned process.)</a:t>
            </a:r>
          </a:p>
          <a:p>
            <a:pPr lvl="0"/>
            <a:r>
              <a:rPr b="1"/>
              <a:t>At the project:</a:t>
            </a:r>
            <a:r>
              <a:rPr/>
              <a:t> designing the human in, defining “good enough,” making the go/no-go call. (Your delivery design.)</a:t>
            </a:r>
          </a:p>
          <a:p>
            <a:pPr lvl="0" indent="0" marL="0">
              <a:buNone/>
            </a:pPr>
            <a:r>
              <a:rPr b="1"/>
              <a:t>The AI is your starting point, not your finish line.</a:t>
            </a:r>
            <a:r>
              <a:rPr/>
              <a:t> What turns generic into </a:t>
            </a:r>
            <a:r>
              <a:rPr i="1"/>
              <a:t>yours</a:t>
            </a:r>
            <a:r>
              <a:rPr/>
              <a:t> is the judgement, taste, and variation only you bring.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week.</a:t>
            </a:r>
            <a:r>
              <a:rPr/>
              <a:t> Trial your redesigned workflow. Run one task through the trust tool before you act on it.</a:t>
            </a:r>
          </a:p>
          <a:p>
            <a:pPr lvl="0" indent="0" marL="0">
              <a:buNone/>
            </a:pPr>
            <a:r>
              <a:rPr b="1"/>
              <a:t>This month.</a:t>
            </a:r>
            <a:r>
              <a:rPr/>
              <a:t> Apply RTCF until it’s habit. Start one conversation at work about where a human must stay in the loop.</a:t>
            </a:r>
          </a:p>
          <a:p>
            <a:pPr lvl="0" indent="0" marL="0">
              <a:buNone/>
            </a:pPr>
            <a:r>
              <a:rPr b="1"/>
              <a:t>This quarter.</a:t>
            </a:r>
            <a:r>
              <a:rPr/>
              <a:t> Scope one real AI initiative using what you built this afternoon — objectives, “good enough,” checkpoints, a go/no-go gate. Defend the Scale/Pivot/Kill call.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leave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Reusable decision tools</a:t>
            </a:r>
            <a:r>
              <a:rPr/>
              <a:t> — the trust tool, RTCF, the five differences, Scale/Pivot/Kill. Tool-agnostic; they don’t expire when the next model ships.</a:t>
            </a:r>
          </a:p>
          <a:p>
            <a:pPr lvl="0"/>
            <a:r>
              <a:rPr b="1"/>
              <a:t>A redesigned workflow</a:t>
            </a:r>
            <a:r>
              <a:rPr/>
              <a:t> from your own role, ready to trial.</a:t>
            </a:r>
          </a:p>
          <a:p>
            <a:pPr lvl="0"/>
            <a:r>
              <a:rPr b="1"/>
              <a:t>A project design</a:t>
            </a:r>
            <a:r>
              <a:rPr/>
              <a:t> — scope, roadmap, checkpoints, risk — for a real scenario.</a:t>
            </a:r>
          </a:p>
          <a:p>
            <a:pPr lvl="0"/>
            <a:r>
              <a:rPr b="1"/>
              <a:t>A personal action plan</a:t>
            </a:r>
            <a:r>
              <a:rPr/>
              <a:t> for the week, month, and quarter.</a:t>
            </a:r>
          </a:p>
          <a:p>
            <a:pPr lvl="0"/>
            <a:r>
              <a:rPr/>
              <a:t>A free companion resource to go deeper: </a:t>
            </a:r>
            <a:r>
              <a:rPr b="1"/>
              <a:t>michael-borck.github.io/conversation-not-delegation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Human Edge</dc:title>
  <dc:creator>Dr. Michael Borck</dc:creator>
  <cp:keywords/>
  <dcterms:created xsi:type="dcterms:W3CDTF">2026-06-25T08:21:58Z</dcterms:created>
  <dcterms:modified xsi:type="dcterms:W3CDTF">2026-06-25T08:21:58Z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Using and Delivering AI with Judgement</vt:lpwstr>
  </property>
  <property fmtid="{D5CDD505-2E9C-101B-9397-08002B2CF9AE}" pid="11" name="toc-title">
    <vt:lpwstr>Table of contents</vt:lpwstr>
  </property>
</Properties>
</file>