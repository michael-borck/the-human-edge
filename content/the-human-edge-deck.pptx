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2286000" cy="411480"/>
          </a:xfrm>
          <a:prstGeom prst="rect">
            <a:avLst/>
          </a:prstGeom>
          <a:solidFill>
            <a:srgbClr val="E34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JetBrains Mono"/>
              </a:rPr>
              <a:t>ONE-DAY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CURTIN EXECUTIVE EDUCATION · DR MICHAEL BORCK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8000"/>
              </a:lnSpc>
            </a:pPr>
            <a:r>
              <a:rPr sz="11800" b="0" i="0">
                <a:solidFill>
                  <a:srgbClr val="181613"/>
                </a:solidFill>
                <a:latin typeface="Impact"/>
              </a:rPr>
              <a:t>THE
</a:t>
            </a:r>
          </a:p>
          <a:p>
            <a:pPr algn="l">
              <a:lnSpc>
                <a:spcPct val="88000"/>
              </a:lnSpc>
            </a:pPr>
            <a:r>
              <a:rPr sz="11800" b="0" i="0">
                <a:solidFill>
                  <a:srgbClr val="181613"/>
                </a:solidFill>
                <a:latin typeface="Impact"/>
              </a:rPr>
              <a:t>HUMAN
</a:t>
            </a:r>
          </a:p>
          <a:p>
            <a:pPr algn="l">
              <a:lnSpc>
                <a:spcPct val="88000"/>
              </a:lnSpc>
            </a:pPr>
            <a:r>
              <a:rPr sz="11800" b="0" i="0">
                <a:solidFill>
                  <a:srgbClr val="181613"/>
                </a:solidFill>
                <a:latin typeface="Impact"/>
              </a:rPr>
              <a:t>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4A443C"/>
                </a:solidFill>
                <a:latin typeface="Georgia"/>
              </a:rPr>
              <a:t>Using &amp; delivering AI with judgement.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PROVOCATION WE'LL SPEND THE DAY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0" b="0" i="0">
                <a:solidFill>
                  <a:srgbClr val="E34F29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468880"/>
            <a:ext cx="10241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81613"/>
                </a:solidFill>
                <a:latin typeface="Georgia"/>
              </a:rPr>
              <a:t>If the AI is good at running your work, it's good at running everyone else's. Generic competence is the baseline — not the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55778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443C"/>
                </a:solidFill>
                <a:latin typeface="JetBrains Mono"/>
              </a:rPr>
              <a:t>SO WHERE DOES YOUR EDGE LIVE?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One idea. Two scales.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judgement, at the level of your own work: the trust tool, RTCF, the two-pass demo.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AFTERNOON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same judgement, lifted to delivery: the five differences, human-in-the-loop, the go/no-go.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>The trust tool — taught once, reused at project scale</a:t>
            </a:r>
          </a:p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630936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18161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4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JetBrains Mono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07899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THE AVERAGE,
</a:t>
            </a:r>
          </a:p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THE TOOL,
</a:t>
            </a:r>
          </a:p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YOUR EDGE.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3035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Georgia"/>
              </a:rPr>
              <a:t>Personal fluency — the judgement that lasts after the next model 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utocomplete-on-stero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WHAT AI ACTUALLY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It predicts the next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Autocomplete, scaled up. Trained on billions of pages, it learned what tends to follow what. The result looks like understanding. It's pattern-matching.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vincing-ave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ONE MENTAL MODEL TO KEEP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A convincing average.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Fluent, plausible, usually about-right. But "about right" and "exactly right" are not the same — and knowing which you need is the whole game.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ONCE YOU SEE IT AS AN AVERAGING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Brilliant here. Quietly wrong there.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BRILLIANT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Drafting, summarising, formatting, brainstorming, explaining, finding patterns — where "the plausible version" is the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UNRELIABLE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Precise facts, figures, citations, multi-step logic, your context, ethics — where there's one right answer it can't verify.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fident-nonse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NOT A BUG — A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Confident. Wrong. Same polish.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It never says "I don't know." The fluent-but-wrong answer looks identical to the fluent-and-right one. Nothing in the tone warns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SPINE OF THE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The trust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AVERAGE → LEAN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Low stakes, "about right" is fine. Let AI run; you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PRECISE → HUMAN IN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High stakes, one right answer. A person owns the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>Learned once this morning — reused at project scale this afternoon</a:t>
            </a:r>
          </a:p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630936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18161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TRUST TOOL, ON REAL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Average or precise? Small or large?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Drafting an internal email. Average is fine, stakes small — lean in.
Board-paper figures. Precision required, stakes large — a human owns every number.
Summarising fifty complaints for themes. Lean in for the themes, then skim for the one complaint the AI smoothed away.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TALKING TO AI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RTCF — two halves.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R · T · F  SCAFFOLDING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Weaker &amp; self-hosted models need it spelled out. A frontier model infers it from clear writing.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C  ALWAYS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Context is the one thing only you supply. No model manufactures your edge.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>The durable skill: being clear about what you want</a:t>
            </a:r>
          </a:p>
          <a:p>
            <a:pPr algn="l"/>
            <a:r>
              <a:rPr sz="900" b="0" i="0">
                <a:solidFill>
                  <a:srgbClr val="4A443C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630936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18161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BEFORE &amp;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Unusable. Then sendable.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Without: "Write an email about the project delay."
With RTCF: a senior PM, professional &amp; empathetic, writes a client email explaining a 2-week delay (vendor integration; client values transparency; new date March 15), under 200 words — acknowledge → explain → new date → recommit.
Context is where your edge enters.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wo-pass-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MONEY MOMENT —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Add your edge. It gets a soul.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Pass 1: a naive prompt → slick, correct, identical for everyone. Pass 2: layer in what only you hold. Watch the output turn yours.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EXERCISE — ON YOUR OWN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Redesign one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Pick a task you own. List its steps. Judge each with the trust tool — where does AI genuinely help, where must your judgement stay in charge? Redesign so AI handles the average and you keep the high-stakes parts. You leave with something to trial next week.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WHERE WE ARE BY LUNCH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A mental model, a grid, a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AI produces a convincing average. The trust tool tells you when to lean in. RTCF directs it well — and Context is the part that survives any model. One question for the afternoon: if this is how I trust AI on a single task, how do I trust it across a whole project?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1367" y="1682495"/>
            <a:ext cx="3108960" cy="2286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eak-morning-t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1554480"/>
            <a:ext cx="3108960" cy="2286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68680" y="4114800"/>
            <a:ext cx="104543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0" i="0">
                <a:solidFill>
                  <a:srgbClr val="E34F29"/>
                </a:solidFill>
                <a:latin typeface="Impact"/>
              </a:rPr>
              <a:t>10:30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03520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181613"/>
                </a:solidFill>
                <a:latin typeface="Georgia"/>
              </a:rPr>
              <a:t>Morning tea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443C"/>
                </a:solidFill>
                <a:latin typeface="JetBrains Mono"/>
              </a:rPr>
              <a:t>BACK AT 11:00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JetBrains Mono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07899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WHY AI
</a:t>
            </a:r>
          </a:p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DELIVERY IS
</a:t>
            </a:r>
          </a:p>
          <a:p>
            <a:pPr algn="l">
              <a:lnSpc>
                <a:spcPct val="90000"/>
              </a:lnSpc>
            </a:pPr>
            <a:r>
              <a:rPr sz="9200" b="0" i="0">
                <a:solidFill>
                  <a:srgbClr val="FFFFFF"/>
                </a:solidFill>
                <a:latin typeface="Impact"/>
              </a:rPr>
              <a:t>DIFFERENT.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3035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Georgia"/>
              </a:rPr>
              <a:t>You're the delivery lead. Ship one funded initiative — without the predictable failures.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FAIR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0" b="0" i="0">
                <a:solidFill>
                  <a:srgbClr val="E34F29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468880"/>
            <a:ext cx="10241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81613"/>
                </a:solidFill>
                <a:latin typeface="Georgia"/>
              </a:rPr>
              <a:t>I've delivered projects before. What's actually different about an AI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55778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443C"/>
                </a:solidFill>
                <a:latin typeface="JetBrains Mono"/>
              </a:rPr>
              <a:t>THEY DON'T FAIL MORE OFTEN. THEY FAIL DIFFERENTLY — IN PLACES YOU DIDN'T SEE COMING.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FIVE WAYS AI BREAKS THE RULES YOU USUALLY LEAD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They fail</a:t>
            </a:r>
            <a:r>
              <a:rPr sz="4600" b="0" i="1">
                <a:solidFill>
                  <a:srgbClr val="181613"/>
                </a:solidFill>
                <a:latin typeface="Georgia"/>
              </a:rPr>
              <a:t> differently.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"Done" can't be specified.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36338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6338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demo is a trap.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3996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3996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3996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data is the uncertainty.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89204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0176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50407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Verification is the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6338" y="489204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6338" y="500176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338" y="5550407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Generic competence is the baseline.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3996" y="489204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3996" y="500176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5550407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So you design the human 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20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ne-cant-be-specifi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"Done" won't hold still.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Ask twice, get two answers. There's no single correct output — only a spread. Stop chasing a fixed spec; decide what "good enough" looks like for this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-is-a-tr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The demo is a trap.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It shows the happy path. The messy real-world cases are where it falls over. Treat the demo as the start of the hard part — not the end.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22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-is-the-uncertain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The data is the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You don't order it; you discover it — its gaps, biases and surprises show up only when you work with it. Run delivery as discovery, and build the learning into the plan.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23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erification-is-the-produ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Verification is the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Outputs vary and can be confidently wrong. The value lives in how you check them, and where a human stays in the loop. Design the checking deliberately — make it part of what you 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24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ere-your-edge-li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DIFFERENCE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Generic is the baseline, not the 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When every rival runs the same models, the model isn't your advantage — anyone can have it. Compete on the human variation a rival's identical model can't reproduce.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THREAD THROUGH ALL FIVE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0" b="0" i="0">
                <a:solidFill>
                  <a:srgbClr val="E34F29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468880"/>
            <a:ext cx="10241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i="0">
                <a:solidFill>
                  <a:srgbClr val="181613"/>
                </a:solidFill>
                <a:latin typeface="Georgia"/>
              </a:rPr>
              <a:t>AI gives you something fluent and roughly-right, fast — then asks you to decide when roughly-right is good enough, and who checks when it isn't.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55778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A443C"/>
                </a:solidFill>
                <a:latin typeface="JetBrains Mono"/>
              </a:rPr>
              <a:t>A LEADERSHIP QUESTION. WHICH IS WHY IT LANDS ON YOUR DESK.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YOUR PROJECT · RETAILFLOW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81613"/>
                </a:solidFill>
                <a:latin typeface="Georgia"/>
              </a:rPr>
              <a:t>You're the delivery lead.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A443C"/>
                </a:solidFill>
                <a:latin typeface="Arial"/>
              </a:rPr>
              <a:t>The board funded one AI initiative. Ship it without the predictable failures. Carry it through three moves — scoping and stress-testing it by interviewing the RetailFlow team: live chatbots with opinions, who disagree, and won't do your job for you.   access code: pilot2024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THREE MOVES, 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Scope. Verify. Decide.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017520"/>
            <a:ext cx="3058058" cy="36576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54679"/>
            <a:ext cx="3058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E34F29"/>
                </a:solidFill>
                <a:latin typeface="Impac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81613"/>
                </a:solidFill>
                <a:latin typeface="Georgia"/>
              </a:rPr>
              <a:t>Scope it against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30580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Interview Data &amp; CIO. Reconcile "move fast" with "the data isn't ready." → objectives, data needs, a defined "good enough."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6818" y="3017520"/>
            <a:ext cx="3058058" cy="36576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818" y="3154679"/>
            <a:ext cx="3058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E34F29"/>
                </a:solidFill>
                <a:latin typeface="Impac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818" y="393192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81613"/>
                </a:solidFill>
                <a:latin typeface="Georgia"/>
              </a:rPr>
              <a:t>Stakeholders &amp; 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4663440"/>
            <a:ext cx="30580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Interview MD, frontline, CFO. Decide where a human must stay in charge. → stakeholder plan + checkpoint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4956" y="3017520"/>
            <a:ext cx="3058058" cy="36576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4956" y="3154679"/>
            <a:ext cx="3058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E34F29"/>
                </a:solidFill>
                <a:latin typeface="Impac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393192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81613"/>
                </a:solidFill>
                <a:latin typeface="Georgia"/>
              </a:rPr>
              <a:t>Roadmap &amp; the go/no-go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4663440"/>
            <a:ext cx="30580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Build the roadmap with gates and a risk register. Then make the call: Scale, Pivot, or Kill.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1367" y="1682495"/>
            <a:ext cx="3108960" cy="2286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eak-lu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1554480"/>
            <a:ext cx="3108960" cy="2286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68680" y="4114800"/>
            <a:ext cx="104543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0" i="0">
                <a:solidFill>
                  <a:srgbClr val="E34F29"/>
                </a:solidFill>
                <a:latin typeface="Impact"/>
              </a:rPr>
              <a:t>12:30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03520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181613"/>
                </a:solidFill>
                <a:latin typeface="Georgia"/>
              </a:rPr>
              <a:t>Lunch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443C"/>
                </a:solidFill>
                <a:latin typeface="JetBrains Mono"/>
              </a:rPr>
              <a:t>BACK AT 1:15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29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le-pivot-k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THE GO / NO-GO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Scale. Pivot. Kill.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At each gate the question isn't "is it perfect?" — it's whether the evidence justifies continuing. Killing early is success, not failure.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1367" y="1682495"/>
            <a:ext cx="3108960" cy="2286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eak-afternoon-t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1554480"/>
            <a:ext cx="3108960" cy="2286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68680" y="4114800"/>
            <a:ext cx="104543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0" i="0">
                <a:solidFill>
                  <a:srgbClr val="E34F29"/>
                </a:solidFill>
                <a:latin typeface="Impact"/>
              </a:rPr>
              <a:t>2:30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03520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181613"/>
                </a:solidFill>
                <a:latin typeface="Georgia"/>
              </a:rPr>
              <a:t>Afternoon tea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443C"/>
                </a:solidFill>
                <a:latin typeface="JetBrains Mono"/>
              </a:rPr>
              <a:t>BACK AT 3:00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WHAT YOU'VE BUILT BY 4:00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A delivery design, not a theory.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Objectives, data requirements, a defined "good enough."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Milestones and go/no-go gates.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9204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176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CHECKPOINTS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50407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A stakeholder plan and human-in-the-loop design.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489204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500176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5550407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A register and a Scale / Pivot / Kill call you can defend.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32</a:t>
            </a:r>
          </a:p>
        </p:txBody>
      </p:sp>
      <p:sp>
        <p:nvSpPr>
          <p:cNvPr id="3" name="Rectangle 2"/>
          <p:cNvSpPr/>
          <p:nvPr/>
        </p:nvSpPr>
        <p:spPr>
          <a:xfrm>
            <a:off x="996695" y="1408176"/>
            <a:ext cx="5486400" cy="4572000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ere-your-edge-li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80160"/>
            <a:ext cx="5486400" cy="4572000"/>
          </a:xfrm>
          <a:prstGeom prst="rect">
            <a:avLst/>
          </a:prstGeom>
          <a:ln w="22225">
            <a:solidFill>
              <a:srgbClr val="181613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BACK TO THE PROVOCATION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81613"/>
                </a:solidFill>
                <a:latin typeface="Georgia"/>
              </a:rPr>
              <a:t>The edge is the part the tool can't average.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9319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A443C"/>
                </a:solidFill>
                <a:latin typeface="Arial"/>
              </a:rPr>
              <a:t>Averages converge. Your taste, your contrarian calls, your specific customers — that's the variation a rival's identical model can't reproduce.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WHAT YOU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Your action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Trial your redesigned workflow. Run one task through the trust tool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36338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6338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Make RTCF a habit. Start one conversation about where a human stays in the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3996" y="3200400"/>
            <a:ext cx="3119018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3996" y="3310128"/>
            <a:ext cx="31190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3996" y="3858768"/>
            <a:ext cx="31190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Scope one real initiative — and defend the Scale / Pivot / Kill call.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4F29"/>
                </a:solidFill>
                <a:latin typeface="JetBrains Mono"/>
              </a:rPr>
              <a:t>WHAT YOU LEAVE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81613"/>
                </a:solidFill>
                <a:latin typeface="Georgia"/>
              </a:rPr>
              <a:t>Tools that don't expire.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DECISION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The trust tool, RTCF, the five differences, Scale / Pivot / Kill — any platform, any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320040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331012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YOUR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858768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A redesigned workflow and a scoped project design you can act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9204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176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A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50407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Specific commitments for the week, month and quarter.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4892040"/>
            <a:ext cx="4952847" cy="27432"/>
          </a:xfrm>
          <a:prstGeom prst="rect">
            <a:avLst/>
          </a:prstGeom>
          <a:solidFill>
            <a:srgbClr val="18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5001768"/>
            <a:ext cx="49528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34F29"/>
                </a:solidFill>
                <a:latin typeface="Impact"/>
              </a:rPr>
              <a:t>GO DEEPER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5550407"/>
            <a:ext cx="49528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A443C"/>
                </a:solidFill>
                <a:latin typeface="Arial"/>
              </a:rPr>
              <a:t>michael-borck.github.io/the-human-edge — incl. the two-page voice method.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82735" y="32004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CBC3B0"/>
                </a:solidFill>
                <a:latin typeface="Impact"/>
              </a:rPr>
              <a:t>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34F29"/>
                </a:solidFill>
                <a:latin typeface="JetBrains Mono"/>
              </a:rPr>
              <a:t>THE AI IS YOUR STARTING POINT, NOT YOUR FINISH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60320"/>
            <a:ext cx="104543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7200" b="0" i="0">
                <a:solidFill>
                  <a:srgbClr val="181613"/>
                </a:solidFill>
                <a:latin typeface="Impact"/>
              </a:rPr>
              <a:t>STAY THE ONE
</a:t>
            </a:r>
          </a:p>
          <a:p>
            <a:pPr algn="ctr">
              <a:lnSpc>
                <a:spcPct val="92000"/>
              </a:lnSpc>
            </a:pPr>
            <a:r>
              <a:rPr sz="7200" b="0" i="0">
                <a:solidFill>
                  <a:srgbClr val="181613"/>
                </a:solidFill>
                <a:latin typeface="Impact"/>
              </a:rPr>
              <a:t>HOLDING THE
</a:t>
            </a:r>
          </a:p>
          <a:p>
            <a:pPr algn="ctr">
              <a:lnSpc>
                <a:spcPct val="92000"/>
              </a:lnSpc>
            </a:pPr>
            <a:r>
              <a:rPr sz="7200" b="0" i="0">
                <a:solidFill>
                  <a:srgbClr val="181613"/>
                </a:solidFill>
                <a:latin typeface="Impact"/>
              </a:rPr>
              <a:t>JUDGEMENT.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4A443C"/>
                </a:solidFill>
                <a:latin typeface="Georgia"/>
              </a:rPr>
              <a:t>michael-borck.github.io/the-human-edge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