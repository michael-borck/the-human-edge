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914400"/>
            <a:ext cx="2286000" cy="411480"/>
          </a:xfrm>
          <a:prstGeom prst="rect">
            <a:avLst/>
          </a:prstGeom>
          <a:solidFill>
            <a:srgbClr val="E34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914400"/>
            <a:ext cx="3657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JetBrains Mono"/>
              </a:rPr>
              <a:t>ONE-DAY MASTERCLASS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CURTIN EXECUTIVE EDUCATION · DR MICHAEL BORCK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104241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6000"/>
              </a:lnSpc>
            </a:pPr>
            <a:r>
              <a:rPr sz="15000" b="0" i="0">
                <a:solidFill>
                  <a:srgbClr val="181613"/>
                </a:solidFill>
                <a:latin typeface="Impact"/>
              </a:rPr>
              <a:t>THE
</a:t>
            </a:r>
          </a:p>
          <a:p>
            <a:pPr algn="l">
              <a:lnSpc>
                <a:spcPct val="86000"/>
              </a:lnSpc>
            </a:pPr>
            <a:r>
              <a:rPr sz="15000" b="0" i="0">
                <a:solidFill>
                  <a:srgbClr val="181613"/>
                </a:solidFill>
                <a:latin typeface="Impact"/>
              </a:rPr>
              <a:t>HUMAN
</a:t>
            </a:r>
          </a:p>
          <a:p>
            <a:pPr algn="l">
              <a:lnSpc>
                <a:spcPct val="86000"/>
              </a:lnSpc>
            </a:pPr>
            <a:r>
              <a:rPr sz="15000" b="0" i="0">
                <a:solidFill>
                  <a:srgbClr val="181613"/>
                </a:solidFill>
                <a:latin typeface="Impact"/>
              </a:rPr>
              <a:t>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1">
                <a:solidFill>
                  <a:srgbClr val="4A443C"/>
                </a:solidFill>
                <a:latin typeface="Georgia"/>
              </a:rPr>
              <a:t>Using &amp; delivering AI with judgement.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THE PROVOCATION WE'LL SPEND THE DAY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371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0" b="0" i="0">
                <a:solidFill>
                  <a:srgbClr val="E34F29"/>
                </a:solidFill>
                <a:latin typeface="Georgia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2468880"/>
            <a:ext cx="102412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0" i="0">
                <a:solidFill>
                  <a:srgbClr val="181613"/>
                </a:solidFill>
                <a:latin typeface="Georgia"/>
              </a:rPr>
              <a:t>If the AI is good at running your work, it's good at running everyone else's. Generic competence is the baseline — not the advantage.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55778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A443C"/>
                </a:solidFill>
                <a:latin typeface="JetBrains Mono"/>
              </a:rPr>
              <a:t>SO WHERE DOES YOUR EDGE LIVE?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4543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181613"/>
                </a:solidFill>
                <a:latin typeface="Georgia"/>
              </a:rPr>
              <a:t>One idea. Two scales.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0040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31012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MORNING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58768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The judgement, at the level of your own work: the trust tool, RTCF, the two-pass demo.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0167" y="320040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331012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AFTERNOON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3858768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The same judgement, lifted to delivery: the five differences, human-in-the-loop, the go/no-go.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309360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A443C"/>
                </a:solidFill>
                <a:latin typeface="JetBrains Mono"/>
              </a:rPr>
              <a:t>The trust tool — taught once, reused at project scale</a:t>
            </a:r>
          </a:p>
          <a:p>
            <a:pPr algn="l"/>
            <a:r>
              <a:rPr sz="900" b="0" i="0">
                <a:solidFill>
                  <a:srgbClr val="4A443C"/>
                </a:solidFill>
                <a:latin typeface="JetBrains Mono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8495" y="6309360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 i="0">
                <a:solidFill>
                  <a:srgbClr val="18161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4F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JetBrains Mono"/>
              </a:rPr>
              <a:t>PART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107899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200" b="0" i="0">
                <a:solidFill>
                  <a:srgbClr val="FFFFFF"/>
                </a:solidFill>
                <a:latin typeface="Impact"/>
              </a:rPr>
              <a:t>THE AVERAGE,
</a:t>
            </a:r>
          </a:p>
          <a:p>
            <a:pPr algn="l">
              <a:lnSpc>
                <a:spcPct val="90000"/>
              </a:lnSpc>
            </a:pPr>
            <a:r>
              <a:rPr sz="9200" b="0" i="0">
                <a:solidFill>
                  <a:srgbClr val="FFFFFF"/>
                </a:solidFill>
                <a:latin typeface="Impact"/>
              </a:rPr>
              <a:t>THE TOOL,
</a:t>
            </a:r>
          </a:p>
          <a:p>
            <a:pPr algn="l">
              <a:lnSpc>
                <a:spcPct val="90000"/>
              </a:lnSpc>
            </a:pPr>
            <a:r>
              <a:rPr sz="9200" b="0" i="0">
                <a:solidFill>
                  <a:srgbClr val="FFFFFF"/>
                </a:solidFill>
                <a:latin typeface="Impact"/>
              </a:rPr>
              <a:t>YOUR EDGE.
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30352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1">
                <a:solidFill>
                  <a:srgbClr val="FFFFFF"/>
                </a:solidFill>
                <a:latin typeface="Georgia"/>
              </a:rPr>
              <a:t>Personal fluency — the judgement that lasts after the next model ships.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996695" y="1408176"/>
            <a:ext cx="5486400" cy="4572000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utocomplete-on-steroi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80160"/>
            <a:ext cx="5486400" cy="4572000"/>
          </a:xfrm>
          <a:prstGeom prst="rect">
            <a:avLst/>
          </a:prstGeom>
          <a:ln w="22225">
            <a:solidFill>
              <a:srgbClr val="181613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WHAT AI ACTUALLY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181613"/>
                </a:solidFill>
                <a:latin typeface="Georgia"/>
              </a:rPr>
              <a:t>It predicts the next word.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93192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443C"/>
                </a:solidFill>
                <a:latin typeface="Arial"/>
              </a:rPr>
              <a:t>Autocomplete, scaled up. Trained on billions of pages, it learned what tends to follow what. The result looks like understanding. It's pattern-matching.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996695" y="1408176"/>
            <a:ext cx="5486400" cy="4572000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nvincing-aver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80160"/>
            <a:ext cx="5486400" cy="4572000"/>
          </a:xfrm>
          <a:prstGeom prst="rect">
            <a:avLst/>
          </a:prstGeom>
          <a:ln w="22225">
            <a:solidFill>
              <a:srgbClr val="181613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THE ONE MENTAL MODEL TO KEEP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181613"/>
                </a:solidFill>
                <a:latin typeface="Georgia"/>
              </a:rPr>
              <a:t>A convincing average.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93192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443C"/>
                </a:solidFill>
                <a:latin typeface="Arial"/>
              </a:rPr>
              <a:t>Fluent, plausible, usually about-right. But "about right" and "exactly right" are not the same — and knowing which you need is the whole game.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ONCE YOU SEE IT AS AN AVERAGING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4543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181613"/>
                </a:solidFill>
                <a:latin typeface="Georgia"/>
              </a:rPr>
              <a:t>Brilliant here. Quietly wrong there.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0040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31012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BRILLIANT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58768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Drafting, summarising, formatting, brainstorming, explaining, finding patterns — where "the plausible version" is the answer.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0167" y="320040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331012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UNRELIABLE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3858768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Precise facts, figures, citations, multi-step logic, your context, ethics — where there's one right answer it can't verify.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08</a:t>
            </a:r>
          </a:p>
        </p:txBody>
      </p:sp>
      <p:sp>
        <p:nvSpPr>
          <p:cNvPr id="3" name="Rectangle 2"/>
          <p:cNvSpPr/>
          <p:nvPr/>
        </p:nvSpPr>
        <p:spPr>
          <a:xfrm>
            <a:off x="996695" y="1408176"/>
            <a:ext cx="5486400" cy="4572000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nfident-nonsen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80160"/>
            <a:ext cx="5486400" cy="4572000"/>
          </a:xfrm>
          <a:prstGeom prst="rect">
            <a:avLst/>
          </a:prstGeom>
          <a:ln w="22225">
            <a:solidFill>
              <a:srgbClr val="181613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NOT A BUG — A PROPERTY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181613"/>
                </a:solidFill>
                <a:latin typeface="Georgia"/>
              </a:rPr>
              <a:t>Confident. Wrong. Same polish.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93192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443C"/>
                </a:solidFill>
                <a:latin typeface="Arial"/>
              </a:rPr>
              <a:t>It never says "I don't know." The fluent-but-wrong answer looks identical to the fluent-and-right one. Nothing in the tone warns you.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THE SPINE OF THE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4543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181613"/>
                </a:solidFill>
                <a:latin typeface="Georgia"/>
              </a:rPr>
              <a:t>The trust tool.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0040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31012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AVERAGE → LEAN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58768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Low stakes, "about right" is fine. Let AI run; you glance.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0167" y="320040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331012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PRECISE → HUMAN IN THE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3858768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High stakes, one right answer. A person owns the decision.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309360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A443C"/>
                </a:solidFill>
                <a:latin typeface="JetBrains Mono"/>
              </a:rPr>
              <a:t>Learned once this morning — reused at project scale this afternoon</a:t>
            </a:r>
          </a:p>
          <a:p>
            <a:pPr algn="l"/>
            <a:r>
              <a:rPr sz="900" b="0" i="0">
                <a:solidFill>
                  <a:srgbClr val="4A443C"/>
                </a:solidFill>
                <a:latin typeface="JetBrains Mono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8495" y="6309360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 i="0">
                <a:solidFill>
                  <a:srgbClr val="18161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THE TRUST TOOL, ON REAL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9601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81613"/>
                </a:solidFill>
                <a:latin typeface="Georgia"/>
              </a:rPr>
              <a:t>Average or precise? Small or large?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98755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A443C"/>
                </a:solidFill>
                <a:latin typeface="Arial"/>
              </a:rPr>
              <a:t>Drafting an internal email. Average is fine, stakes small — lean in.
Board-paper figures. Precision required, stakes large — a human owns every number.
Summarising fifty complaints for themes. Lean in for the themes, then skim for the one complaint the AI smoothed away.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TALKING TO AI 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4543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181613"/>
                </a:solidFill>
                <a:latin typeface="Georgia"/>
              </a:rPr>
              <a:t>RTCF — two halves.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0040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31012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R · T · F  SCAFFOLDING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58768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Weaker &amp; self-hosted models need it spelled out. A frontier model infers it from clear writing.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0167" y="320040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331012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C  ALWAYS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3858768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Context is the one thing only you supply. No model manufactures your edge.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309360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A443C"/>
                </a:solidFill>
                <a:latin typeface="JetBrains Mono"/>
              </a:rPr>
              <a:t>The durable skill: being clear about what you want</a:t>
            </a:r>
          </a:p>
          <a:p>
            <a:pPr algn="l"/>
            <a:r>
              <a:rPr sz="900" b="0" i="0">
                <a:solidFill>
                  <a:srgbClr val="4A443C"/>
                </a:solidFill>
                <a:latin typeface="JetBrains Mono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8495" y="6309360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 i="0">
                <a:solidFill>
                  <a:srgbClr val="18161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BEFORE &amp;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9601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81613"/>
                </a:solidFill>
                <a:latin typeface="Georgia"/>
              </a:rPr>
              <a:t>Unusable. Then sendable.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98755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A443C"/>
                </a:solidFill>
                <a:latin typeface="Arial"/>
              </a:rPr>
              <a:t>Without: "Write an email about the project delay."
With RTCF: a senior PM, professional &amp; empathetic, writes a client email explaining a 2-week delay (vendor integration; client values transparency; new date March 15), under 200 words — acknowledge → explain → new date → recommit.
Context is where your edge enters.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13</a:t>
            </a:r>
          </a:p>
        </p:txBody>
      </p:sp>
      <p:sp>
        <p:nvSpPr>
          <p:cNvPr id="3" name="Rectangle 2"/>
          <p:cNvSpPr/>
          <p:nvPr/>
        </p:nvSpPr>
        <p:spPr>
          <a:xfrm>
            <a:off x="996695" y="1408176"/>
            <a:ext cx="5486400" cy="4572000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wo-pass-dem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80160"/>
            <a:ext cx="5486400" cy="4572000"/>
          </a:xfrm>
          <a:prstGeom prst="rect">
            <a:avLst/>
          </a:prstGeom>
          <a:ln w="22225">
            <a:solidFill>
              <a:srgbClr val="181613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THE MONEY MOMENT —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181613"/>
                </a:solidFill>
                <a:latin typeface="Georgia"/>
              </a:rPr>
              <a:t>Add your edge. It gets a soul.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93192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443C"/>
                </a:solidFill>
                <a:latin typeface="Arial"/>
              </a:rPr>
              <a:t>Pass 1: a naive prompt → slick, correct, identical for everyone. Pass 2: layer in what only you hold. Watch the output turn yours.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EXERCISE — ON YOUR OWN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9601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81613"/>
                </a:solidFill>
                <a:latin typeface="Georgia"/>
              </a:rPr>
              <a:t>Redesign one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98755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A443C"/>
                </a:solidFill>
                <a:latin typeface="Arial"/>
              </a:rPr>
              <a:t>Pick a task you own. List its steps. Judge each with the trust tool — where does AI genuinely help, where must your judgement stay in charge? Redesign so AI handles the average and you keep the high-stakes parts. You leave with something to trial next week.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WHERE WE ARE BY LUNCH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9601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81613"/>
                </a:solidFill>
                <a:latin typeface="Georgia"/>
              </a:rPr>
              <a:t>A mental model, a grid, a method.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98755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A443C"/>
                </a:solidFill>
                <a:latin typeface="Arial"/>
              </a:rPr>
              <a:t>AI produces a convincing average. The trust tool tells you when to lean in. RTCF directs it well — and Context is the part that survives any model. One question for the afternoon: if this is how I trust AI on a single task, how do I trust it across a whole project?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16</a:t>
            </a:r>
          </a:p>
        </p:txBody>
      </p:sp>
      <p:pic>
        <p:nvPicPr>
          <p:cNvPr id="3" name="Picture 2" descr="break-morning-te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367" y="1554480"/>
            <a:ext cx="3108960" cy="2286000"/>
          </a:xfrm>
          <a:prstGeom prst="rect">
            <a:avLst/>
          </a:prstGeom>
          <a:ln w="22225">
            <a:solidFill>
              <a:srgbClr val="181613"/>
            </a:solidFill>
          </a:ln>
          <a:effectLst/>
        </p:spPr>
      </p:pic>
      <p:sp>
        <p:nvSpPr>
          <p:cNvPr id="4" name="Rectangle 3"/>
          <p:cNvSpPr/>
          <p:nvPr/>
        </p:nvSpPr>
        <p:spPr>
          <a:xfrm>
            <a:off x="4541367" y="1664207"/>
            <a:ext cx="3108960" cy="2286000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114800"/>
            <a:ext cx="1045433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200" b="0" i="0">
                <a:solidFill>
                  <a:srgbClr val="E34F29"/>
                </a:solidFill>
                <a:latin typeface="Impact"/>
              </a:rPr>
              <a:t>10:30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303520"/>
            <a:ext cx="104543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0" i="1">
                <a:solidFill>
                  <a:srgbClr val="181613"/>
                </a:solidFill>
                <a:latin typeface="Georgia"/>
              </a:rPr>
              <a:t>Morning tea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4A443C"/>
                </a:solidFill>
                <a:latin typeface="JetBrains Mono"/>
              </a:rPr>
              <a:t>BACK AT 11:00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6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JetBrains Mono"/>
              </a:rPr>
              <a:t>PART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107899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200" b="0" i="0">
                <a:solidFill>
                  <a:srgbClr val="FFFFFF"/>
                </a:solidFill>
                <a:latin typeface="Impact"/>
              </a:rPr>
              <a:t>WHY AI
</a:t>
            </a:r>
          </a:p>
          <a:p>
            <a:pPr algn="l">
              <a:lnSpc>
                <a:spcPct val="90000"/>
              </a:lnSpc>
            </a:pPr>
            <a:r>
              <a:rPr sz="9200" b="0" i="0">
                <a:solidFill>
                  <a:srgbClr val="FFFFFF"/>
                </a:solidFill>
                <a:latin typeface="Impact"/>
              </a:rPr>
              <a:t>DELIVERY IS
</a:t>
            </a:r>
          </a:p>
          <a:p>
            <a:pPr algn="l">
              <a:lnSpc>
                <a:spcPct val="90000"/>
              </a:lnSpc>
            </a:pPr>
            <a:r>
              <a:rPr sz="9200" b="0" i="0">
                <a:solidFill>
                  <a:srgbClr val="FFFFFF"/>
                </a:solidFill>
                <a:latin typeface="Impact"/>
              </a:rPr>
              <a:t>DIFFERENT.
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30352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1">
                <a:solidFill>
                  <a:srgbClr val="FFFFFF"/>
                </a:solidFill>
                <a:latin typeface="Georgia"/>
              </a:rPr>
              <a:t>You're the delivery lead. Ship one funded initiative — without the predictable failures.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THE FAIR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371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0" b="0" i="0">
                <a:solidFill>
                  <a:srgbClr val="E34F29"/>
                </a:solidFill>
                <a:latin typeface="Georgia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2468880"/>
            <a:ext cx="102412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0" i="0">
                <a:solidFill>
                  <a:srgbClr val="181613"/>
                </a:solidFill>
                <a:latin typeface="Georgia"/>
              </a:rPr>
              <a:t>I've delivered projects before. What's actually different about an AI project?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55778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A443C"/>
                </a:solidFill>
                <a:latin typeface="JetBrains Mono"/>
              </a:rPr>
              <a:t>THEY DON'T FAIL MORE OFTEN. THEY FAIL DIFFERENTLY — IN PLACES YOU DIDN'T SEE COMING.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FIVE WAYS AI BREAKS THE RULES YOU USUALLY LEAD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4543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181613"/>
                </a:solidFill>
                <a:latin typeface="Georgia"/>
              </a:rPr>
              <a:t>They fail</a:t>
            </a:r>
            <a:r>
              <a:rPr sz="4600" b="0" i="1">
                <a:solidFill>
                  <a:srgbClr val="181613"/>
                </a:solidFill>
                <a:latin typeface="Georgia"/>
              </a:rPr>
              <a:t> differently.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00400"/>
            <a:ext cx="3119018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310128"/>
            <a:ext cx="31190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58768"/>
            <a:ext cx="31190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"Done" can't be specified.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36338" y="3200400"/>
            <a:ext cx="3119018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6338" y="3310128"/>
            <a:ext cx="31190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6338" y="3858768"/>
            <a:ext cx="31190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The demo is a trap.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3996" y="3200400"/>
            <a:ext cx="3119018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3996" y="3310128"/>
            <a:ext cx="31190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3996" y="3858768"/>
            <a:ext cx="31190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The data is the uncertainty.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892040"/>
            <a:ext cx="3119018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001768"/>
            <a:ext cx="31190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550407"/>
            <a:ext cx="31190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Verification is the product.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6338" y="4892040"/>
            <a:ext cx="3119018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6338" y="5001768"/>
            <a:ext cx="31190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6338" y="5550407"/>
            <a:ext cx="31190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Generic competence is the baseline.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03996" y="4892040"/>
            <a:ext cx="3119018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3996" y="5001768"/>
            <a:ext cx="31190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5550407"/>
            <a:ext cx="31190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So you design the human in.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20</a:t>
            </a:r>
          </a:p>
        </p:txBody>
      </p:sp>
      <p:sp>
        <p:nvSpPr>
          <p:cNvPr id="3" name="Rectangle 2"/>
          <p:cNvSpPr/>
          <p:nvPr/>
        </p:nvSpPr>
        <p:spPr>
          <a:xfrm>
            <a:off x="996695" y="1408176"/>
            <a:ext cx="5486400" cy="4572000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one-cant-be-specifi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80160"/>
            <a:ext cx="5486400" cy="4572000"/>
          </a:xfrm>
          <a:prstGeom prst="rect">
            <a:avLst/>
          </a:prstGeom>
          <a:ln w="22225">
            <a:solidFill>
              <a:srgbClr val="181613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DIFFERENCE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181613"/>
                </a:solidFill>
                <a:latin typeface="Georgia"/>
              </a:rPr>
              <a:t>"Done" won't hold still.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93192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443C"/>
                </a:solidFill>
                <a:latin typeface="Arial"/>
              </a:rPr>
              <a:t>Ask twice, get two answers. There's no single correct output — only a spread. Stop chasing a fixed spec; decide what "good enough" looks like for this use.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21</a:t>
            </a:r>
          </a:p>
        </p:txBody>
      </p:sp>
      <p:sp>
        <p:nvSpPr>
          <p:cNvPr id="3" name="Rectangle 2"/>
          <p:cNvSpPr/>
          <p:nvPr/>
        </p:nvSpPr>
        <p:spPr>
          <a:xfrm>
            <a:off x="996695" y="1408176"/>
            <a:ext cx="5486400" cy="4572000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mo-is-a-tr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80160"/>
            <a:ext cx="5486400" cy="4572000"/>
          </a:xfrm>
          <a:prstGeom prst="rect">
            <a:avLst/>
          </a:prstGeom>
          <a:ln w="22225">
            <a:solidFill>
              <a:srgbClr val="181613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DIFFERENCE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181613"/>
                </a:solidFill>
                <a:latin typeface="Georgia"/>
              </a:rPr>
              <a:t>The demo is a trap.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93192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443C"/>
                </a:solidFill>
                <a:latin typeface="Arial"/>
              </a:rPr>
              <a:t>It shows the happy path. The messy real-world cases are where it falls over. Treat the demo as the start of the hard part — not the end.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22</a:t>
            </a:r>
          </a:p>
        </p:txBody>
      </p:sp>
      <p:sp>
        <p:nvSpPr>
          <p:cNvPr id="3" name="Rectangle 2"/>
          <p:cNvSpPr/>
          <p:nvPr/>
        </p:nvSpPr>
        <p:spPr>
          <a:xfrm>
            <a:off x="996695" y="1408176"/>
            <a:ext cx="5486400" cy="4572000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ta-is-the-uncertain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80160"/>
            <a:ext cx="5486400" cy="4572000"/>
          </a:xfrm>
          <a:prstGeom prst="rect">
            <a:avLst/>
          </a:prstGeom>
          <a:ln w="22225">
            <a:solidFill>
              <a:srgbClr val="181613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DIFFERENCE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181613"/>
                </a:solidFill>
                <a:latin typeface="Georgia"/>
              </a:rPr>
              <a:t>The data is the uncertainty.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93192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443C"/>
                </a:solidFill>
                <a:latin typeface="Arial"/>
              </a:rPr>
              <a:t>You don't order it; you discover it — its gaps, biases and surprises show up only when you work with it. Run delivery as discovery, and build the learning into the plan.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23</a:t>
            </a:r>
          </a:p>
        </p:txBody>
      </p:sp>
      <p:sp>
        <p:nvSpPr>
          <p:cNvPr id="3" name="Rectangle 2"/>
          <p:cNvSpPr/>
          <p:nvPr/>
        </p:nvSpPr>
        <p:spPr>
          <a:xfrm>
            <a:off x="996695" y="1408176"/>
            <a:ext cx="5486400" cy="4572000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erification-is-the-produ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80160"/>
            <a:ext cx="5486400" cy="4572000"/>
          </a:xfrm>
          <a:prstGeom prst="rect">
            <a:avLst/>
          </a:prstGeom>
          <a:ln w="22225">
            <a:solidFill>
              <a:srgbClr val="181613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DIFFERENCE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181613"/>
                </a:solidFill>
                <a:latin typeface="Georgia"/>
              </a:rPr>
              <a:t>Verification is the product.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93192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443C"/>
                </a:solidFill>
                <a:latin typeface="Arial"/>
              </a:rPr>
              <a:t>Outputs vary and can be confidently wrong. The value lives in how you check them, and where a human stays in the loop. Design the checking deliberately — make it part of what you ship.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24</a:t>
            </a:r>
          </a:p>
        </p:txBody>
      </p:sp>
      <p:sp>
        <p:nvSpPr>
          <p:cNvPr id="3" name="Rectangle 2"/>
          <p:cNvSpPr/>
          <p:nvPr/>
        </p:nvSpPr>
        <p:spPr>
          <a:xfrm>
            <a:off x="996695" y="1408176"/>
            <a:ext cx="5486400" cy="4572000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here-your-edge-liv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80160"/>
            <a:ext cx="5486400" cy="4572000"/>
          </a:xfrm>
          <a:prstGeom prst="rect">
            <a:avLst/>
          </a:prstGeom>
          <a:ln w="22225">
            <a:solidFill>
              <a:srgbClr val="181613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DIFFERENCE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181613"/>
                </a:solidFill>
                <a:latin typeface="Georgia"/>
              </a:rPr>
              <a:t>Generic is the baseline, not the edge.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93192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443C"/>
                </a:solidFill>
                <a:latin typeface="Arial"/>
              </a:rPr>
              <a:t>When every rival runs the same models, the model isn't your advantage — anyone can have it. Compete on the human variation a rival's identical model can't reproduce.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THE THREAD THROUGH ALL FIVE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371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0" b="0" i="0">
                <a:solidFill>
                  <a:srgbClr val="E34F29"/>
                </a:solidFill>
                <a:latin typeface="Georgia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2468880"/>
            <a:ext cx="102412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0" i="0">
                <a:solidFill>
                  <a:srgbClr val="181613"/>
                </a:solidFill>
                <a:latin typeface="Georgia"/>
              </a:rPr>
              <a:t>AI gives you something fluent and roughly-right, fast — then asks you to decide when roughly-right is good enough, and who checks when it isn't.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55778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A443C"/>
                </a:solidFill>
                <a:latin typeface="JetBrains Mono"/>
              </a:rPr>
              <a:t>A LEADERSHIP QUESTION. WHICH IS WHY IT LANDS ON YOUR DESK.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YOUR PROJECT · RETAILFLOW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9601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81613"/>
                </a:solidFill>
                <a:latin typeface="Georgia"/>
              </a:rPr>
              <a:t>You're the delivery lead.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98755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A443C"/>
                </a:solidFill>
                <a:latin typeface="Arial"/>
              </a:rPr>
              <a:t>The board funded one AI initiative. Ship it without the predictable failures. Carry it through three moves — scoping and stress-testing it by interviewing the RetailFlow team: live chatbots with opinions, who disagree, and won't do your job for you.   access code: pilot2024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THREE MOVES, 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4543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181613"/>
                </a:solidFill>
                <a:latin typeface="Georgia"/>
              </a:rPr>
              <a:t>Scope. Verify. Decide.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017520"/>
            <a:ext cx="3058058" cy="36576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154679"/>
            <a:ext cx="3058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E34F29"/>
                </a:solidFill>
                <a:latin typeface="Impac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3058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81613"/>
                </a:solidFill>
                <a:latin typeface="Georgia"/>
              </a:rPr>
              <a:t>Scope it against reality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663440"/>
            <a:ext cx="305805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Interview Data &amp; CIO. Reconcile "move fast" with "the data isn't ready." → objectives, data needs, a defined "good enough."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66818" y="3017520"/>
            <a:ext cx="3058058" cy="36576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6818" y="3154679"/>
            <a:ext cx="3058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E34F29"/>
                </a:solidFill>
                <a:latin typeface="Impac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6818" y="3931920"/>
            <a:ext cx="3058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81613"/>
                </a:solidFill>
                <a:latin typeface="Georgia"/>
              </a:rPr>
              <a:t>Stakeholders &amp; human-in-the-loop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4663440"/>
            <a:ext cx="305805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Interview MD, frontline, CFO. Decide where a human must stay in charge. → stakeholder plan + checkpoint design.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64956" y="3017520"/>
            <a:ext cx="3058058" cy="36576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4956" y="3154679"/>
            <a:ext cx="3058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E34F29"/>
                </a:solidFill>
                <a:latin typeface="Impac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3931920"/>
            <a:ext cx="3058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81613"/>
                </a:solidFill>
                <a:latin typeface="Georgia"/>
              </a:rPr>
              <a:t>Roadmap &amp; the go/no-go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4663440"/>
            <a:ext cx="305805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Build the roadmap with gates and a risk register. Then make the call: Scale, Pivot, or Kill.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28</a:t>
            </a:r>
          </a:p>
        </p:txBody>
      </p:sp>
      <p:pic>
        <p:nvPicPr>
          <p:cNvPr id="3" name="Picture 2" descr="break-lun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367" y="1554480"/>
            <a:ext cx="3108960" cy="2286000"/>
          </a:xfrm>
          <a:prstGeom prst="rect">
            <a:avLst/>
          </a:prstGeom>
          <a:ln w="22225">
            <a:solidFill>
              <a:srgbClr val="181613"/>
            </a:solidFill>
          </a:ln>
          <a:effectLst/>
        </p:spPr>
      </p:pic>
      <p:sp>
        <p:nvSpPr>
          <p:cNvPr id="4" name="Rectangle 3"/>
          <p:cNvSpPr/>
          <p:nvPr/>
        </p:nvSpPr>
        <p:spPr>
          <a:xfrm>
            <a:off x="4541367" y="1664207"/>
            <a:ext cx="3108960" cy="2286000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114800"/>
            <a:ext cx="1045433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200" b="0" i="0">
                <a:solidFill>
                  <a:srgbClr val="E34F29"/>
                </a:solidFill>
                <a:latin typeface="Impact"/>
              </a:rPr>
              <a:t>12:30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303520"/>
            <a:ext cx="104543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0" i="1">
                <a:solidFill>
                  <a:srgbClr val="181613"/>
                </a:solidFill>
                <a:latin typeface="Georgia"/>
              </a:rPr>
              <a:t>Lunch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4A443C"/>
                </a:solidFill>
                <a:latin typeface="JetBrains Mono"/>
              </a:rPr>
              <a:t>BACK AT 1:15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29</a:t>
            </a:r>
          </a:p>
        </p:txBody>
      </p:sp>
      <p:sp>
        <p:nvSpPr>
          <p:cNvPr id="3" name="Rectangle 2"/>
          <p:cNvSpPr/>
          <p:nvPr/>
        </p:nvSpPr>
        <p:spPr>
          <a:xfrm>
            <a:off x="996695" y="1408176"/>
            <a:ext cx="5486400" cy="4572000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ale-pivot-ki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80160"/>
            <a:ext cx="5486400" cy="4572000"/>
          </a:xfrm>
          <a:prstGeom prst="rect">
            <a:avLst/>
          </a:prstGeom>
          <a:ln w="22225">
            <a:solidFill>
              <a:srgbClr val="181613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THE GO / NO-GO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181613"/>
                </a:solidFill>
                <a:latin typeface="Georgia"/>
              </a:rPr>
              <a:t>Scale. Pivot. Kill.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93192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443C"/>
                </a:solidFill>
                <a:latin typeface="Arial"/>
              </a:rPr>
              <a:t>At each gate the question isn't "is it perfect?" — it's whether the evidence justifies continuing. Killing early is success, not failure.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30</a:t>
            </a:r>
          </a:p>
        </p:txBody>
      </p:sp>
      <p:pic>
        <p:nvPicPr>
          <p:cNvPr id="3" name="Picture 2" descr="break-afternoon-te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367" y="1554480"/>
            <a:ext cx="3108960" cy="2286000"/>
          </a:xfrm>
          <a:prstGeom prst="rect">
            <a:avLst/>
          </a:prstGeom>
          <a:ln w="22225">
            <a:solidFill>
              <a:srgbClr val="181613"/>
            </a:solidFill>
          </a:ln>
          <a:effectLst/>
        </p:spPr>
      </p:pic>
      <p:sp>
        <p:nvSpPr>
          <p:cNvPr id="4" name="Rectangle 3"/>
          <p:cNvSpPr/>
          <p:nvPr/>
        </p:nvSpPr>
        <p:spPr>
          <a:xfrm>
            <a:off x="4541367" y="1664207"/>
            <a:ext cx="3108960" cy="2286000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114800"/>
            <a:ext cx="1045433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200" b="0" i="0">
                <a:solidFill>
                  <a:srgbClr val="E34F29"/>
                </a:solidFill>
                <a:latin typeface="Impact"/>
              </a:rPr>
              <a:t>2:30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303520"/>
            <a:ext cx="104543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0" i="1">
                <a:solidFill>
                  <a:srgbClr val="181613"/>
                </a:solidFill>
                <a:latin typeface="Georgia"/>
              </a:rPr>
              <a:t>Afternoon tea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4A443C"/>
                </a:solidFill>
                <a:latin typeface="JetBrains Mono"/>
              </a:rPr>
              <a:t>BACK AT 3:00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WHAT YOU'VE BUILT BY 4:00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4543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181613"/>
                </a:solidFill>
                <a:latin typeface="Georgia"/>
              </a:rPr>
              <a:t>A delivery design, not a theory.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0040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31012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58768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Objectives, data requirements, a defined "good enough."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0167" y="320040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331012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3858768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Milestones and go/no-go gates.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89204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0176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CHECKPOINTS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550407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A stakeholder plan and human-in-the-loop design.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0167" y="489204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0167" y="500176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5550407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A register and a Scale / Pivot / Kill call you can defend.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32</a:t>
            </a:r>
          </a:p>
        </p:txBody>
      </p:sp>
      <p:sp>
        <p:nvSpPr>
          <p:cNvPr id="3" name="Rectangle 2"/>
          <p:cNvSpPr/>
          <p:nvPr/>
        </p:nvSpPr>
        <p:spPr>
          <a:xfrm>
            <a:off x="996695" y="1408176"/>
            <a:ext cx="5486400" cy="4572000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here-your-edge-liv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80160"/>
            <a:ext cx="5486400" cy="4572000"/>
          </a:xfrm>
          <a:prstGeom prst="rect">
            <a:avLst/>
          </a:prstGeom>
          <a:ln w="22225">
            <a:solidFill>
              <a:srgbClr val="181613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BACK TO THE PROVOCATION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181613"/>
                </a:solidFill>
                <a:latin typeface="Georgia"/>
              </a:rPr>
              <a:t>The edge is the part the tool can't average.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93192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443C"/>
                </a:solidFill>
                <a:latin typeface="Arial"/>
              </a:rPr>
              <a:t>Averages converge. Your taste, your contrarian calls, your specific customers — that's the variation a rival's identical model can't reproduce.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WHAT YOU DO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4543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181613"/>
                </a:solidFill>
                <a:latin typeface="Georgia"/>
              </a:rPr>
              <a:t>Your action plan.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00400"/>
            <a:ext cx="3119018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310128"/>
            <a:ext cx="31190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58768"/>
            <a:ext cx="31190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Trial your redesigned workflow. Run one task through the trust tool first.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36338" y="3200400"/>
            <a:ext cx="3119018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6338" y="3310128"/>
            <a:ext cx="31190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6338" y="3858768"/>
            <a:ext cx="31190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Make RTCF a habit. Start one conversation about where a human stays in the loop.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3996" y="3200400"/>
            <a:ext cx="3119018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3996" y="3310128"/>
            <a:ext cx="31190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QUARTER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3996" y="3858768"/>
            <a:ext cx="31190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Scope one real initiative — and defend the Scale / Pivot / Kill call.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WHAT YOU LEAVE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4543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181613"/>
                </a:solidFill>
                <a:latin typeface="Georgia"/>
              </a:rPr>
              <a:t>Tools that don't expire.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0040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31012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DECISION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58768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The trust tool, RTCF, the five differences, Scale / Pivot / Kill — any platform, any model.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0167" y="320040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331012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YOUR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3858768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A redesigned workflow and a scoped project design you can act 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89204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0176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A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550407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Specific commitments for the week, month and quarter.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0167" y="489204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0167" y="500176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GO DEEPER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5550407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michael-borck.github.io/the-human-edge — incl. the two-page voice method.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104543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34F29"/>
                </a:solidFill>
                <a:latin typeface="JetBrains Mono"/>
              </a:rPr>
              <a:t>THE AI IS YOUR STARTING POINT, NOT YOUR FINISH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60320"/>
            <a:ext cx="104543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7200" b="0" i="0">
                <a:solidFill>
                  <a:srgbClr val="181613"/>
                </a:solidFill>
                <a:latin typeface="Impact"/>
              </a:rPr>
              <a:t>STAY THE ONE
</a:t>
            </a:r>
          </a:p>
          <a:p>
            <a:pPr algn="ctr">
              <a:lnSpc>
                <a:spcPct val="92000"/>
              </a:lnSpc>
            </a:pPr>
            <a:r>
              <a:rPr sz="7200" b="0" i="0">
                <a:solidFill>
                  <a:srgbClr val="181613"/>
                </a:solidFill>
                <a:latin typeface="Impact"/>
              </a:rPr>
              <a:t>HOLDING THE
</a:t>
            </a:r>
          </a:p>
          <a:p>
            <a:pPr algn="ctr">
              <a:lnSpc>
                <a:spcPct val="92000"/>
              </a:lnSpc>
            </a:pPr>
            <a:r>
              <a:rPr sz="7200" b="0" i="0">
                <a:solidFill>
                  <a:srgbClr val="181613"/>
                </a:solidFill>
                <a:latin typeface="Impact"/>
              </a:rPr>
              <a:t>JUDGEMENT.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52160"/>
            <a:ext cx="104543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1">
                <a:solidFill>
                  <a:srgbClr val="4A443C"/>
                </a:solidFill>
                <a:latin typeface="Georgia"/>
              </a:rPr>
              <a:t>michael-borck.github.io/the-human-edge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