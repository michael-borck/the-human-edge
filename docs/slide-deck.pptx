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notesMaster" Target="notesMasters/notesMaster1.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“Welcome to Practical AI for Professionals”</a:t>
            </a:r>
          </a:p>
          <a:p>
            <a:pPr lvl="0" indent="0" marL="0">
              <a:buNone/>
            </a:pPr>
          </a:p>
          <a:p>
            <a:pPr lvl="0"/>
            <a:r>
              <a:rPr/>
              <a:t>“Today is about doing, not just listening”</a:t>
            </a:r>
          </a:p>
          <a:p>
            <a:pPr lvl="0" indent="0" marL="0">
              <a:buNone/>
            </a:pPr>
          </a:p>
          <a:p>
            <a:pPr lvl="0"/>
            <a:r>
              <a:rPr/>
              <a:t>“Here’s the idea the whole day hangs on: everyone in this room has access to the same AI. Same tools, same models. So generic AI competence isn’t an advantage anymore, it’s the baseline everyone shares. The edge moves to what the tool can’t manufacture: your judgement. Knowing what to ask for, when to trust the answer, and where a human stays in charge. That’s what we train today.”</a:t>
            </a:r>
          </a:p>
          <a:p>
            <a:pPr lvl="0" indent="0" marL="0">
              <a:buNone/>
            </a:pPr>
          </a:p>
          <a:p>
            <a:pPr lvl="0"/>
            <a:r>
              <a:rPr/>
              <a:t>“By the end of today, you’ll have real skills you can use at your desk on Monday morning”</a:t>
            </a:r>
          </a:p>
          <a:p>
            <a:pPr lvl="0" indent="0" marL="0">
              <a:buNone/>
            </a:pPr>
          </a:p>
          <a:p>
            <a:pPr lvl="0"/>
            <a:r>
              <a:rPr/>
              <a:t>“This isn’t a course for executives deciding where to invest in AI, and it’s not for project managers leading AI projects. Those are the other two courses in this series.”</a:t>
            </a:r>
          </a:p>
          <a:p>
            <a:pPr lvl="0" indent="0" marL="0">
              <a:buNone/>
            </a:pPr>
          </a:p>
          <a:p>
            <a:pPr lvl="0"/>
            <a:r>
              <a:rPr/>
              <a:t>“This course is for YOU, a professional who wants to use AI tools effectively in your daily work.”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“Look around the room. Some of you have been using ChatGPT for months. Some of you opened it for the first time yesterday. Both are fine.”</a:t>
            </a:r>
          </a:p>
          <a:p>
            <a:pPr lvl="0" indent="0" marL="0">
              <a:buNone/>
            </a:pPr>
          </a:p>
          <a:p>
            <a:pPr lvl="0"/>
            <a:r>
              <a:rPr/>
              <a:t>“The exercises are designed so everyone can participate regardless of starting point”</a:t>
            </a:r>
          </a:p>
          <a:p>
            <a:pPr lvl="0" indent="0" marL="0">
              <a:buNone/>
            </a:pPr>
          </a:p>
          <a:p>
            <a:pPr lvl="0"/>
            <a:r>
              <a:rPr/>
              <a:t>“If you’re experienced, there are stretch challenges. If you’re new, the basics are powerful.”</a:t>
            </a:r>
          </a:p>
          <a:p>
            <a:pPr lvl="0" indent="0" marL="0">
              <a:buNone/>
            </a:pPr>
          </a:p>
          <a:p>
            <a:pPr lvl="0"/>
            <a:r>
              <a:rPr/>
              <a:t>“One ground rule: there are no stupid questions. The technology is new and everyone is figuring it out.”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“Four sessions, four frameworks, four hands-on exercises”</a:t>
            </a:r>
          </a:p>
          <a:p>
            <a:pPr lvl="0" indent="0" marL="0">
              <a:buNone/>
            </a:pPr>
          </a:p>
          <a:p>
            <a:pPr lvl="0"/>
            <a:r>
              <a:rPr/>
              <a:t>“Each session builds on the previous one”</a:t>
            </a:r>
          </a:p>
          <a:p>
            <a:pPr lvl="0" indent="0" marL="0">
              <a:buNone/>
            </a:pPr>
          </a:p>
          <a:p>
            <a:pPr lvl="0"/>
            <a:r>
              <a:rPr/>
              <a:t>“By the end: you’ll know WHEN to use AI, HOW to talk to it, how to use it with DATA, and WHERE it fits in your actual work”</a:t>
            </a:r>
          </a:p>
          <a:p>
            <a:pPr lvl="0" indent="0" marL="0">
              <a:buNone/>
            </a:pPr>
          </a:p>
          <a:p>
            <a:pPr lvl="0"/>
            <a:r>
              <a:rPr/>
              <a:t>“The morning builds skills, the afternoon applies them to your real job”</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“These aren’t academic frameworks. They’re practical tools.”</a:t>
            </a:r>
          </a:p>
          <a:p>
            <a:pPr lvl="0" indent="0" marL="0">
              <a:buNone/>
            </a:pPr>
          </a:p>
          <a:p>
            <a:pPr lvl="0"/>
            <a:r>
              <a:rPr/>
              <a:t>“And there’s one thread that runs through all of them: the trust tool. You’ll learn it in the next few minutes and use it in every exercise today.”</a:t>
            </a:r>
          </a:p>
          <a:p>
            <a:pPr lvl="0" indent="0" marL="0">
              <a:buNone/>
            </a:pPr>
          </a:p>
          <a:p>
            <a:pPr lvl="0"/>
            <a:r>
              <a:rPr/>
              <a:t>“By 4:30 you’ll have used each one at least once”</a:t>
            </a:r>
          </a:p>
          <a:p>
            <a:pPr lvl="0" indent="0" marL="0">
              <a:buNone/>
            </a:pPr>
          </a:p>
          <a:p>
            <a:pPr lvl="0"/>
            <a:r>
              <a:rPr/>
              <a:t>“You’ll also have a personal prompt library and a redesigned workflow from your own job”</a:t>
            </a:r>
          </a:p>
          <a:p>
            <a:pPr lvl="0" indent="0" marL="0">
              <a:buNone/>
            </a:pPr>
          </a:p>
          <a:p>
            <a:pPr lvl="0"/>
            <a:r>
              <a:rPr/>
              <a:t>“Let’s start with the foundation: what is AI, really?”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The Simple Truth: AI Predicts the Next Word</a:t>
            </a:r>
          </a:p>
          <a:p>
            <a:pPr lvl="0" indent="0" marL="0">
              <a:buNone/>
            </a:pPr>
          </a:p>
          <a:p>
            <a:pPr lvl="0"/>
            <a:r>
              <a:rPr/>
              <a:t>“When you type something into ChatGPT or Claude, the AI isn’t thinking. It’s predicting.”</a:t>
            </a:r>
          </a:p>
          <a:p>
            <a:pPr lvl="0" indent="0" marL="0">
              <a:buNone/>
            </a:pPr>
          </a:p>
          <a:p>
            <a:pPr lvl="0"/>
            <a:r>
              <a:rPr/>
              <a:t>“It’s been trained on billions of pages of text, and it’s learned patterns, what word comes after what, what sentences follow what questions, what format fits what request”</a:t>
            </a:r>
          </a:p>
          <a:p>
            <a:pPr lvl="0" indent="0" marL="0">
              <a:buNone/>
            </a:pPr>
          </a:p>
          <a:p>
            <a:pPr lvl="0"/>
            <a:r>
              <a:rPr/>
              <a:t>“Think of it as autocomplete on steroids”</a:t>
            </a:r>
          </a:p>
          <a:p>
            <a:pPr lvl="0" indent="0" marL="0">
              <a:buNone/>
            </a:pPr>
          </a:p>
          <a:p>
            <a:pPr lvl="0"/>
            <a:r>
              <a:rPr/>
              <a:t>“Your phone predicts one word at a time. These tools predict thousands of words at a time.”</a:t>
            </a:r>
          </a:p>
          <a:p>
            <a:pPr lvl="0" indent="0" marL="0">
              <a:buNone/>
            </a:pPr>
          </a:p>
          <a:p>
            <a:pPr lvl="0"/>
            <a:r>
              <a:rPr/>
              <a:t>“The result often LOOKS like understanding, but it’s pattern-matching”</a:t>
            </a:r>
          </a:p>
          <a:p>
            <a:pPr lvl="0" indent="0" marL="0">
              <a:buNone/>
            </a:pPr>
          </a:p>
          <a:p>
            <a:pPr lvl="0"/>
            <a:r>
              <a:rPr/>
              <a:t>“Why does this matter? Because it tells you what AI is good at and what it’s bad at.”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“AI excels at tasks where there are clear patterns to follow”</a:t>
            </a:r>
          </a:p>
          <a:p>
            <a:pPr lvl="0" indent="0" marL="0">
              <a:buNone/>
            </a:pPr>
          </a:p>
          <a:p>
            <a:pPr lvl="0"/>
            <a:r>
              <a:rPr/>
              <a:t>“Writing an email? There are billions of email examples in the training data”</a:t>
            </a:r>
          </a:p>
          <a:p>
            <a:pPr lvl="0" indent="0" marL="0">
              <a:buNone/>
            </a:pPr>
          </a:p>
          <a:p>
            <a:pPr lvl="0"/>
            <a:r>
              <a:rPr/>
              <a:t>“Summarising a document? AI has seen thousands of summaries”</a:t>
            </a:r>
          </a:p>
          <a:p>
            <a:pPr lvl="0" indent="0" marL="0">
              <a:buNone/>
            </a:pPr>
          </a:p>
          <a:p>
            <a:pPr lvl="0"/>
            <a:r>
              <a:rPr/>
              <a:t>“The key insight: if a task has patterns, AI can probably help”</a:t>
            </a:r>
          </a:p>
          <a:p>
            <a:pPr lvl="0" indent="0" marL="0">
              <a:buNone/>
            </a:pPr>
          </a:p>
          <a:p>
            <a:pPr lvl="0"/>
            <a:r>
              <a:rPr/>
              <a:t>“But there’s a flip side…”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critical part. AI NEVER says ‘I don’t know’”</a:t>
            </a:r>
          </a:p>
          <a:p>
            <a:pPr lvl="0" indent="0" marL="0">
              <a:buNone/>
            </a:pPr>
          </a:p>
          <a:p>
            <a:pPr lvl="0"/>
            <a:r>
              <a:rPr/>
              <a:t>“It will give you a confident, well-structured, completely wrong answer”</a:t>
            </a:r>
          </a:p>
          <a:p>
            <a:pPr lvl="0" indent="0" marL="0">
              <a:buNone/>
            </a:pPr>
          </a:p>
          <a:p>
            <a:pPr lvl="0"/>
            <a:r>
              <a:rPr/>
              <a:t>“This is called hallucination, and it’s the biggest risk of using AI carelessly”</a:t>
            </a:r>
          </a:p>
          <a:p>
            <a:pPr lvl="0" indent="0" marL="0">
              <a:buNone/>
            </a:pPr>
          </a:p>
          <a:p>
            <a:pPr lvl="0"/>
            <a:r>
              <a:rPr/>
              <a:t>“If you only remember one thing from this morning: AI output needs human verification. Always.”</a:t>
            </a:r>
          </a:p>
          <a:p>
            <a:pPr lvl="0" indent="0" marL="0">
              <a:buNone/>
            </a:pPr>
          </a:p>
          <a:p>
            <a:pPr lvl="0"/>
            <a:r>
              <a:rPr/>
              <a:t>“Let me show you an example of each tool handling the same task differently…”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“Hallucination isn’t a bug that will be fixed. It’s a fundamental property of how these tools work.”</a:t>
            </a:r>
          </a:p>
          <a:p>
            <a:pPr lvl="0" indent="0" marL="0">
              <a:buNone/>
            </a:pPr>
          </a:p>
          <a:p>
            <a:pPr lvl="0"/>
            <a:r>
              <a:rPr/>
              <a:t>“If the AI hasn’t seen enough examples of something, it generates the most plausible-sounding text, which may be entirely fabricated”</a:t>
            </a:r>
          </a:p>
          <a:p>
            <a:pPr lvl="0" indent="0" marL="0">
              <a:buNone/>
            </a:pPr>
          </a:p>
          <a:p>
            <a:pPr lvl="0"/>
            <a:r>
              <a:rPr/>
              <a:t>“It will cite academic papers that don’t exist. It will invent statistics. It will create fake legal precedents.”</a:t>
            </a:r>
          </a:p>
          <a:p>
            <a:pPr lvl="0" indent="0" marL="0">
              <a:buNone/>
            </a:pPr>
          </a:p>
          <a:p>
            <a:pPr lvl="0"/>
            <a:r>
              <a:rPr/>
              <a:t>“The rule: verify facts, especially numbers, names, quotes, and references”</a:t>
            </a:r>
          </a:p>
          <a:p>
            <a:pPr lvl="0" indent="0" marL="0">
              <a:buNone/>
            </a:pPr>
          </a:p>
          <a:p>
            <a:pPr lvl="0"/>
            <a:r>
              <a:rPr/>
              <a:t>“Here’s the deeper point: hallucination isn’t the exception. Everything AI produces is a version of this, a convincing average. Let me show you what I mean.”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single most useful thing to understand about today’s AI”</a:t>
            </a:r>
          </a:p>
          <a:p>
            <a:pPr lvl="0" indent="0" marL="0">
              <a:buNone/>
            </a:pPr>
          </a:p>
          <a:p>
            <a:pPr lvl="0"/>
            <a:r>
              <a:rPr/>
              <a:t>“It gives you back the most plausible, most typical response drawn from everything it has seen. That’s its genius and its limit in one.”</a:t>
            </a:r>
          </a:p>
          <a:p>
            <a:pPr lvl="0" indent="0" marL="0">
              <a:buNone/>
            </a:pPr>
          </a:p>
          <a:p>
            <a:pPr lvl="0"/>
            <a:r>
              <a:rPr/>
              <a:t>“Most of the time, the average is genuinely useful: a first draft, a summary, a starting point”</a:t>
            </a:r>
          </a:p>
          <a:p>
            <a:pPr lvl="0" indent="0" marL="0">
              <a:buNone/>
            </a:pPr>
          </a:p>
          <a:p>
            <a:pPr lvl="0"/>
            <a:r>
              <a:rPr/>
              <a:t>“But sometimes you need exactly right: a contract figure, a citation, an account balance. And on those, the average is just a confident guess that looks like an answer”</a:t>
            </a:r>
          </a:p>
          <a:p>
            <a:pPr lvl="0" indent="0" marL="0">
              <a:buNone/>
            </a:pPr>
          </a:p>
          <a:p>
            <a:pPr lvl="0"/>
            <a:r>
              <a:rPr/>
              <a:t>“Here’s the trap, and it’s worth dwelling on: you have a lifetime of training at spotting weak work, because weak human work announces itself. Rushed work looks rushed. Gaps show. Sloppiness shows. Your alarm is well calibrated for people.”</a:t>
            </a:r>
          </a:p>
          <a:p>
            <a:pPr lvl="0" indent="0" marL="0">
              <a:buNone/>
            </a:pPr>
          </a:p>
          <a:p>
            <a:pPr lvl="0"/>
            <a:r>
              <a:rPr/>
              <a:t>“AI’s wrong work announces nothing. It’s polished, complete, confident. The error signals you’ve relied on your whole career are gone. Your alarm stays quiet exactly when you need it most.”</a:t>
            </a:r>
          </a:p>
          <a:p>
            <a:pPr lvl="0" indent="0" marL="0">
              <a:buNone/>
            </a:pPr>
          </a:p>
          <a:p>
            <a:pPr lvl="0"/>
            <a:r>
              <a:rPr/>
              <a:t>“So the skill of this day is not typing clever prompts. It’s running the check your alarm can no longer run for you.”</a:t>
            </a:r>
          </a:p>
          <a:p>
            <a:pPr lvl="0" indent="0" marL="0">
              <a:buNone/>
            </a:pPr>
          </a:p>
          <a:p>
            <a:pPr lvl="0"/>
            <a:r>
              <a:rPr/>
              <a:t>“So: how do you know when an average is fine and when it isn’t? You need a tool. Here it 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trust tool: Average/Precise crossed with Small/Large. It’s the spine of everything we do today.”</a:t>
            </a:r>
          </a:p>
          <a:p>
            <a:pPr lvl="0" indent="0" marL="0">
              <a:buNone/>
            </a:pPr>
          </a:p>
          <a:p>
            <a:pPr lvl="0"/>
            <a:r>
              <a:rPr/>
              <a:t>“Walk the corners: internal email draft, average, small stakes, lean in. Board paper numbers, precision, large stakes, a human owns every figure.”</a:t>
            </a:r>
          </a:p>
          <a:p>
            <a:pPr lvl="0" indent="0" marL="0">
              <a:buNone/>
            </a:pPr>
          </a:p>
          <a:p>
            <a:pPr lvl="0"/>
            <a:r>
              <a:rPr/>
              <a:t>“The rule of thumb: lean in where ‘about right’ over low stakes is fine; keep a human in the loop where exactly-right meets high stakes.”</a:t>
            </a:r>
          </a:p>
          <a:p>
            <a:pPr lvl="0" indent="0" marL="0">
              <a:buNone/>
            </a:pPr>
          </a:p>
          <a:p>
            <a:pPr lvl="0"/>
            <a:r>
              <a:rPr/>
              <a:t>“Here’s the part that makes this durable: verification comes from OUTSIDE the tool. Asking the AI to check its own work doesn’t count, it will happily agree with itself. The check is yours: against the data, the source, the standard. That’s not an AI skill. It’s an old professional skill, and it’s what makes you the edge.”</a:t>
            </a:r>
          </a:p>
          <a:p>
            <a:pPr lvl="0" indent="0" marL="0">
              <a:buNone/>
            </a:pPr>
          </a:p>
          <a:p>
            <a:pPr lvl="0"/>
            <a:r>
              <a:rPr/>
              <a:t>“This grid works on any tool, ChatGPT, Claude, Gemini, whatever ships next year. It doesn’t expire when the next model does.”</a:t>
            </a:r>
          </a:p>
          <a:p>
            <a:pPr lvl="0" indent="0" marL="0">
              <a:buNone/>
            </a:pPr>
          </a:p>
          <a:p>
            <a:pPr lvl="0"/>
            <a:r>
              <a:rPr/>
              <a:t>“Now let’s look at a framework for deciding which tasks to bring to AI in the first place.”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The question: “Should I use AI for this?”</a:t>
            </a:r>
          </a:p>
          <a:p>
            <a:pPr lvl="0" indent="0" marL="0">
              <a:buNone/>
            </a:pPr>
          </a:p>
          <a:p>
            <a:pPr lvl="0" indent="0" marL="0">
              <a:buNone/>
            </a:pPr>
            <a:r>
              <a:rPr b="1"/>
              <a:t>Four zones:</a:t>
            </a:r>
          </a:p>
          <a:p>
            <a:pPr lvl="0" indent="0" marL="0">
              <a:buNone/>
            </a:pPr>
          </a:p>
          <a:p>
            <a:pPr lvl="0"/>
            <a:r>
              <a:rPr b="1"/>
              <a:t>AI-Led</a:t>
            </a:r>
            <a:r>
              <a:rPr/>
              <a:t>: Routine, pattern-based tasks. AI does the heavy lifting, you review. Example: formatting notes into meeting minutes.</a:t>
            </a:r>
          </a:p>
          <a:p>
            <a:pPr lvl="0" indent="0" marL="0">
              <a:buNone/>
            </a:pPr>
          </a:p>
          <a:p>
            <a:pPr lvl="0"/>
            <a:r>
              <a:rPr b="1"/>
              <a:t>AI-Assisted</a:t>
            </a:r>
            <a:r>
              <a:rPr/>
              <a:t>: Tasks requiring your judgment, but AI provides substantial help. Example: drafting a client proposal.</a:t>
            </a:r>
          </a:p>
          <a:p>
            <a:pPr lvl="0" indent="0" marL="0">
              <a:buNone/>
            </a:pPr>
          </a:p>
          <a:p>
            <a:pPr lvl="0"/>
            <a:r>
              <a:rPr b="1"/>
              <a:t>Human-Led, AI-Supported</a:t>
            </a:r>
            <a:r>
              <a:rPr/>
              <a:t>: Complex tasks where AI handles sub-parts. Example: strategy document where AI helps with research and formatting.</a:t>
            </a:r>
          </a:p>
          <a:p>
            <a:pPr lvl="0" indent="0" marL="0">
              <a:buNone/>
            </a:pPr>
          </a:p>
          <a:p>
            <a:pPr lvl="0"/>
            <a:r>
              <a:rPr b="1"/>
              <a:t>Human-Only</a:t>
            </a:r>
            <a:r>
              <a:rPr/>
              <a:t>: Tasks requiring empathy, ethics, novel judgment. Example: difficult conversation with a team member.</a:t>
            </a:r>
          </a:p>
          <a:p>
            <a:pPr lvl="0" indent="0" marL="0">
              <a:buNone/>
            </a:pPr>
          </a:p>
          <a:p>
            <a:pPr lvl="0" indent="0" marL="0">
              <a:buNone/>
            </a:pPr>
            <a:r>
              <a:rPr/>
              <a:t>“The first question to ask with any task: where does it sit on this spectrum?” “When in doubt, start with more human involvement and delegate to AI as you build trust.”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key skill is classification, quickly deciding which zone a task belongs in”</a:t>
            </a:r>
          </a:p>
          <a:p>
            <a:pPr lvl="0" indent="0" marL="0">
              <a:buNone/>
            </a:pPr>
          </a:p>
          <a:p>
            <a:pPr lvl="0"/>
            <a:r>
              <a:rPr/>
              <a:t>“Most professionals will spend most of their time in the middle two zones”</a:t>
            </a:r>
          </a:p>
          <a:p>
            <a:pPr lvl="0" indent="0" marL="0">
              <a:buNone/>
            </a:pPr>
          </a:p>
          <a:p>
            <a:pPr lvl="0"/>
            <a:r>
              <a:rPr/>
              <a:t>“AI-Led tasks are your quick wins, start there”</a:t>
            </a:r>
          </a:p>
          <a:p>
            <a:pPr lvl="0" indent="0" marL="0">
              <a:buNone/>
            </a:pPr>
          </a:p>
          <a:p>
            <a:pPr lvl="0"/>
            <a:r>
              <a:rPr/>
              <a:t>“Human-Only tasks are where your value is irreplaceable, protect those”</a:t>
            </a:r>
          </a:p>
          <a:p>
            <a:pPr lvl="0" indent="0" marL="0">
              <a:buNone/>
            </a:pPr>
          </a:p>
          <a:p>
            <a:pPr lvl="0"/>
            <a:r>
              <a:rPr/>
              <a:t>“Let’s test this with real AI tools…”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What you’ll do:</a:t>
            </a:r>
          </a:p>
          <a:p>
            <a:pPr lvl="0" indent="0" marL="0">
              <a:buNone/>
            </a:pPr>
          </a:p>
          <a:p>
            <a:pPr lvl="0" indent="-342900" marL="342900">
              <a:buAutoNum type="arabicPeriod"/>
            </a:pPr>
            <a:r>
              <a:rPr/>
              <a:t>I’m giving you a single workplace task</a:t>
            </a:r>
          </a:p>
          <a:p>
            <a:pPr lvl="0" indent="0" marL="0">
              <a:buNone/>
            </a:pPr>
          </a:p>
          <a:p>
            <a:pPr lvl="0" indent="-342900" marL="342900">
              <a:buAutoNum type="arabicPeriod"/>
            </a:pPr>
            <a:r>
              <a:rPr/>
              <a:t>Type the EXACT same prompt into 2-3 different AI tools</a:t>
            </a:r>
          </a:p>
          <a:p>
            <a:pPr lvl="0" indent="0" marL="0">
              <a:buNone/>
            </a:pPr>
          </a:p>
          <a:p>
            <a:pPr lvl="0" indent="-342900" marL="342900">
              <a:buAutoNum type="arabicPeriod"/>
            </a:pPr>
            <a:r>
              <a:rPr/>
              <a:t>Compare the outputs: what’s different? What’s better? What did any tool get wrong?</a:t>
            </a:r>
          </a:p>
          <a:p>
            <a:pPr lvl="0" indent="0" marL="0">
              <a:buNone/>
            </a:pPr>
          </a:p>
          <a:p>
            <a:pPr lvl="0" indent="0" marL="0">
              <a:buNone/>
            </a:pPr>
            <a:r>
              <a:rPr b="1"/>
              <a:t>The task (display on projector):</a:t>
            </a:r>
          </a:p>
          <a:p>
            <a:pPr lvl="0" indent="0" marL="0">
              <a:buNone/>
            </a:pPr>
          </a:p>
          <a:p>
            <a:pPr lvl="0" indent="0" marL="0">
              <a:buNone/>
            </a:pPr>
            <a:r>
              <a:rPr/>
              <a:t>“I manage a team of 8 people in a mid-sized company. One of my team members, who has been a strong performer for 3 years, has been consistently late to work and missing deadlines for the past month. Other team members are starting to notice. Write me a plan for how to address this situation.”</a:t>
            </a:r>
          </a:p>
          <a:p>
            <a:pPr lvl="0" indent="0" marL="0">
              <a:buNone/>
            </a:pPr>
          </a:p>
          <a:p>
            <a:pPr lvl="0"/>
            <a:r>
              <a:rPr/>
              <a:t>“You have 10 minutes to run the prompt, then 10 minutes to discuss at your table, then we’ll debrief”</a:t>
            </a:r>
          </a:p>
          <a:p>
            <a:pPr lvl="0" indent="0" marL="0">
              <a:buNone/>
            </a:pPr>
          </a:p>
          <a:p>
            <a:pPr lvl="0"/>
            <a:r>
              <a:rPr/>
              <a:t>“Don’t modify the prompt, we want to see how different tools handle the same input”</a:t>
            </a:r>
          </a:p>
          <a:p>
            <a:pPr lvl="0" indent="0" marL="0">
              <a:buNone/>
            </a:pPr>
          </a:p>
          <a:p>
            <a:pPr lvl="0"/>
            <a:r>
              <a:rPr/>
              <a:t>“Go.”</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Debrief (15 min):</a:t>
            </a:r>
          </a:p>
          <a:p>
            <a:pPr lvl="0" indent="0" marL="0">
              <a:buNone/>
            </a:pPr>
          </a:p>
          <a:p>
            <a:pPr lvl="0"/>
            <a:r>
              <a:rPr/>
              <a:t>Draw out 3-4 observations about differences (tone, structure, content, gaps)</a:t>
            </a:r>
          </a:p>
          <a:p>
            <a:pPr lvl="0" indent="0" marL="0">
              <a:buNone/>
            </a:pPr>
          </a:p>
          <a:p>
            <a:pPr lvl="0"/>
            <a:r>
              <a:rPr/>
              <a:t>Spotlight any bad advice or hallucination, this is the highlight</a:t>
            </a:r>
          </a:p>
          <a:p>
            <a:pPr lvl="0" indent="0" marL="0">
              <a:buNone/>
            </a:pPr>
          </a:p>
          <a:p>
            <a:pPr lvl="0"/>
            <a:r>
              <a:rPr/>
              <a:t>Connect to the Suitability Spectrum: “This scenario is Human-Led, AI-Supported. The AI helps you think, but the conversation is yours.”</a:t>
            </a:r>
          </a:p>
          <a:p>
            <a:pPr lvl="0" indent="0" marL="0">
              <a:buNone/>
            </a:pPr>
          </a:p>
          <a:p>
            <a:pPr lvl="0"/>
            <a:r>
              <a:rPr/>
              <a:t>Now apply the trust tool: “Where did an average suffice? Where did the output land in the precision quadrant, and did anyone actually check anything? Hold that thought.”</a:t>
            </a:r>
          </a:p>
          <a:p>
            <a:pPr lvl="0" indent="0" marL="0">
              <a:buNone/>
            </a:pPr>
          </a:p>
          <a:p>
            <a:pPr lvl="0"/>
            <a:r>
              <a:rPr/>
              <a:t>Name what they just did: “This exercise has a name: the compare habit. One task that matters, your rough pass, AI’s pass, side by side. Every gap teaches you something. Where you beat it shows your strength. Where it beat you shows its limit. It is the highest-value practice move available, and it takes minutes.”</a:t>
            </a:r>
          </a:p>
          <a:p>
            <a:pPr lvl="0" indent="0" marL="0">
              <a:buNone/>
            </a:pPr>
          </a:p>
          <a:p>
            <a:pPr lvl="0" indent="0" marL="0">
              <a:buNone/>
            </a:pPr>
            <a:r>
              <a:rPr b="1"/>
              <a:t>Key message:</a:t>
            </a:r>
            <a:r>
              <a:rPr/>
              <a:t> - “There’s no objectively ‘best’ tool. Different tools suit different tasks.” - “What matters is that you try a few, find what works, and NEVER assume the first output is ready to use.”</a:t>
            </a:r>
          </a:p>
          <a:p>
            <a:pPr lvl="0" indent="0" marL="0">
              <a:buNone/>
            </a:pPr>
          </a:p>
          <a:p>
            <a:pPr lvl="0" indent="0" marL="0">
              <a:buNone/>
            </a:pPr>
            <a:r>
              <a:rPr b="1"/>
              <a:t>Bridge to Session 2:</a:t>
            </a:r>
            <a:r>
              <a:rPr/>
              <a:t> - “You just saw what happens with a basic prompt. After the break, we’ll learn how to dramatically improve what you get back, and the reframe might surprise you. It’s less about clever words than you think.”</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most important lesson of the day”</a:t>
            </a:r>
          </a:p>
          <a:p>
            <a:pPr lvl="0" indent="0" marL="0">
              <a:buNone/>
            </a:pPr>
          </a:p>
          <a:p>
            <a:pPr lvl="0"/>
            <a:r>
              <a:rPr/>
              <a:t>“Most people type vague prompts and get vague results, then blame the tool”</a:t>
            </a:r>
          </a:p>
          <a:p>
            <a:pPr lvl="0" indent="0" marL="0">
              <a:buNone/>
            </a:pPr>
          </a:p>
          <a:p>
            <a:pPr lvl="0"/>
            <a:r>
              <a:rPr/>
              <a:t>“Here’s the reframe that makes prompting click: you are NOT casting a spell. There are no magic words. You are briefing a capable junior colleague, one who is smart, fast, and knows nothing about your job”</a:t>
            </a:r>
          </a:p>
          <a:p>
            <a:pPr lvl="0" indent="0" marL="0">
              <a:buNone/>
            </a:pPr>
          </a:p>
          <a:p>
            <a:pPr lvl="0"/>
            <a:r>
              <a:rPr/>
              <a:t>“What would you tell a talented new hire before they drafted the client email for you? Who it’s for. What happened last month. What good looks like. That’s exactly what belongs in your prompt”</a:t>
            </a:r>
          </a:p>
          <a:p>
            <a:pPr lvl="0" indent="0" marL="0">
              <a:buNone/>
            </a:pPr>
          </a:p>
          <a:p>
            <a:pPr lvl="0"/>
            <a:r>
              <a:rPr/>
              <a:t>“The tool produces the form of the work, the shape of an email, the structure of a summary. The substance, your intent, your context, your standard, only you can supply. The briefing is where you supply it.”</a:t>
            </a:r>
          </a:p>
          <a:p>
            <a:pPr lvl="0" indent="0" marL="0">
              <a:buNone/>
            </a:pPr>
          </a:p>
          <a:p>
            <a:pPr lvl="0"/>
            <a:r>
              <a:rPr/>
              <a:t>“The framework that follows makes the briefing repeatable”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“RTCF. Role, Task, Context, Format.”</a:t>
            </a:r>
          </a:p>
          <a:p>
            <a:pPr lvl="0" indent="0" marL="0">
              <a:buNone/>
            </a:pPr>
          </a:p>
          <a:p>
            <a:pPr lvl="0"/>
            <a:r>
              <a:rPr/>
              <a:t>“Think of each as part of the brief you’d give that junior colleague”</a:t>
            </a:r>
          </a:p>
          <a:p>
            <a:pPr lvl="0" indent="0" marL="0">
              <a:buNone/>
            </a:pPr>
          </a:p>
          <a:p>
            <a:pPr lvl="0"/>
            <a:r>
              <a:rPr/>
              <a:t>“Not every prompt needs all four. A simple task might only need Task and Format.”</a:t>
            </a:r>
          </a:p>
          <a:p>
            <a:pPr lvl="0" indent="0" marL="0">
              <a:buNone/>
            </a:pPr>
          </a:p>
          <a:p>
            <a:pPr lvl="0"/>
            <a:r>
              <a:rPr/>
              <a:t>“But for anything important, all four dramatically improve the result.”</a:t>
            </a:r>
          </a:p>
          <a:p>
            <a:pPr lvl="0" indent="0" marL="0">
              <a:buNone/>
            </a:pPr>
          </a:p>
          <a:p>
            <a:pPr lvl="0"/>
            <a:r>
              <a:rPr/>
              <a:t>“Context deserves special attention: it’s the part the AI genuinely cannot do for itself. It doesn’t know your company, your client, your politics. The context component is where your value enters the machine.”</a:t>
            </a:r>
          </a:p>
          <a:p>
            <a:pPr lvl="0" indent="0" marL="0">
              <a:buNone/>
            </a:pPr>
          </a:p>
          <a:p>
            <a:pPr lvl="0"/>
            <a:r>
              <a:rPr/>
              <a:t>“Let me show you the difference…”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Do a LIVE DEMO here.</a:t>
            </a:r>
          </a:p>
          <a:p>
            <a:pPr lvl="0" indent="0" marL="0">
              <a:buNone/>
            </a:pPr>
          </a:p>
          <a:p>
            <a:pPr lvl="0" indent="-342900" marL="342900">
              <a:buAutoNum type="arabicPeriod"/>
            </a:pPr>
            <a:r>
              <a:rPr/>
              <a:t>Open an AI tool on the projector</a:t>
            </a:r>
          </a:p>
          <a:p>
            <a:pPr lvl="0" indent="0" marL="0">
              <a:buNone/>
            </a:pPr>
          </a:p>
          <a:p>
            <a:pPr lvl="0" indent="-342900" marL="342900">
              <a:buAutoNum type="arabicPeriod"/>
            </a:pPr>
            <a:r>
              <a:rPr/>
              <a:t>Type the “without RTCF” prompt, show the generic result</a:t>
            </a:r>
          </a:p>
          <a:p>
            <a:pPr lvl="0" indent="0" marL="0">
              <a:buNone/>
            </a:pPr>
          </a:p>
          <a:p>
            <a:pPr lvl="0" indent="-342900" marL="342900">
              <a:buAutoNum type="arabicPeriod"/>
            </a:pPr>
            <a:r>
              <a:rPr/>
              <a:t>Then type the “with RTCF” prompt, show the dramatically better result</a:t>
            </a:r>
          </a:p>
          <a:p>
            <a:pPr lvl="0" indent="0" marL="0">
              <a:buNone/>
            </a:pPr>
          </a:p>
          <a:p>
            <a:pPr lvl="0" indent="-342900" marL="342900">
              <a:buAutoNum type="arabicPeriod"/>
            </a:pPr>
            <a:r>
              <a:rPr/>
              <a:t>Ask the room: “Which email would you actually send?”</a:t>
            </a:r>
          </a:p>
          <a:p>
            <a:pPr lvl="0" indent="0" marL="0">
              <a:buNone/>
            </a:pPr>
          </a:p>
          <a:p>
            <a:pPr lvl="0"/>
            <a:r>
              <a:rPr/>
              <a:t>“The first one is generic filler. The second one is close to what you’d actually send.”</a:t>
            </a:r>
          </a:p>
          <a:p>
            <a:pPr lvl="0" indent="0" marL="0">
              <a:buNone/>
            </a:pPr>
          </a:p>
          <a:p>
            <a:pPr lvl="0"/>
            <a:r>
              <a:rPr/>
              <a:t>“The investment: 60 seconds writing a better prompt. The return: saving 30 minutes of rewriting.”</a:t>
            </a:r>
          </a:p>
          <a:p>
            <a:pPr lvl="0" indent="0" marL="0">
              <a:buNone/>
            </a:pPr>
          </a:p>
          <a:p>
            <a:pPr lvl="0"/>
            <a:r>
              <a:rPr/>
              <a:t>“Now it’s your turn.”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“Keep this visible. You’ll use it in every exercise for the rest of the day.”</a:t>
            </a:r>
          </a:p>
          <a:p>
            <a:pPr lvl="0" indent="0" marL="0">
              <a:buNone/>
            </a:pPr>
          </a:p>
          <a:p>
            <a:pPr lvl="0"/>
            <a:r>
              <a:rPr/>
              <a:t>“The most commonly missed components are Context and Format”</a:t>
            </a:r>
          </a:p>
          <a:p>
            <a:pPr lvl="0" indent="0" marL="0">
              <a:buNone/>
            </a:pPr>
          </a:p>
          <a:p>
            <a:pPr lvl="0"/>
            <a:r>
              <a:rPr/>
              <a:t>“Role is powerful because it shifts the AI’s entire approach, a ‘financial analyst’ writes differently than a ‘marketing copywriter’”</a:t>
            </a:r>
          </a:p>
          <a:p>
            <a:pPr lvl="0" indent="0" marL="0">
              <a:buNone/>
            </a:pPr>
          </a:p>
          <a:p>
            <a:pPr lvl="0"/>
            <a:r>
              <a:rPr/>
              <a:t>“Context tip worth stealing: a stakes line. ‘Write this for someone who has to decide this week and can’t undo it.’ Real stakes in the Context sharpen everything that follows, no theatrical personas needed, just honest consequences.”</a:t>
            </a:r>
          </a:p>
          <a:p>
            <a:pPr lvl="0" indent="0" marL="0">
              <a:buNone/>
            </a:pPr>
          </a:p>
          <a:p>
            <a:pPr lvl="0"/>
            <a:r>
              <a:rPr/>
              <a:t>“Let’s practise.”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“Pick 3 of the 6 scenarios on your worksheet”</a:t>
            </a:r>
          </a:p>
          <a:p>
            <a:pPr lvl="0" indent="0" marL="0">
              <a:buNone/>
            </a:pPr>
          </a:p>
          <a:p>
            <a:pPr lvl="0"/>
            <a:r>
              <a:rPr/>
              <a:t>“Round 1 is deliberately unstructured, write whatever comes naturally”</a:t>
            </a:r>
          </a:p>
          <a:p>
            <a:pPr lvl="0" indent="0" marL="0">
              <a:buNone/>
            </a:pPr>
          </a:p>
          <a:p>
            <a:pPr lvl="0"/>
            <a:r>
              <a:rPr/>
              <a:t>“In Round 2, use RTCF. Fill in the table on your worksheet for each prompt.”</a:t>
            </a:r>
          </a:p>
          <a:p>
            <a:pPr lvl="0" indent="0" marL="0">
              <a:buNone/>
            </a:pPr>
          </a:p>
          <a:p>
            <a:pPr lvl="0"/>
            <a:r>
              <a:rPr/>
              <a:t>“Round 3 is a stretch, try asking the AI to think step-by-step before answering, or to generate multiple versions, or to critique its own work. My favourite: the fact-gated guardrail. Tell it ‘only change your assessment if I give you new facts, and name which fact changed it.’ Then push back with no evidence and watch whether it folds or holds its ground. That’s how you keep a tool agreeable by training honest.”</a:t>
            </a:r>
          </a:p>
          <a:p>
            <a:pPr lvl="0" indent="0" marL="0">
              <a:buNone/>
            </a:pPr>
          </a:p>
          <a:p>
            <a:pPr lvl="0"/>
            <a:r>
              <a:rPr/>
              <a:t>“Start with Round 1 now. You have 15 minutes.”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Debrief (10 min):</a:t>
            </a:r>
          </a:p>
          <a:p>
            <a:pPr lvl="0" indent="0" marL="0">
              <a:buNone/>
            </a:pPr>
          </a:p>
          <a:p>
            <a:pPr lvl="0"/>
            <a:r>
              <a:rPr/>
              <a:t>“What was the single biggest improvement from Round 1 to Round 2?”</a:t>
            </a:r>
          </a:p>
          <a:p>
            <a:pPr lvl="0" indent="0" marL="0">
              <a:buNone/>
            </a:pPr>
          </a:p>
          <a:p>
            <a:pPr lvl="0"/>
            <a:r>
              <a:rPr/>
              <a:t>“Which RTCF component made the most difference?” (Usually Context or Format)</a:t>
            </a:r>
          </a:p>
          <a:p>
            <a:pPr lvl="0" indent="0" marL="0">
              <a:buNone/>
            </a:pPr>
          </a:p>
          <a:p>
            <a:pPr lvl="0"/>
            <a:r>
              <a:rPr/>
              <a:t>“What happened in Round 3? Did chain-of-thought or self-critique improve things further?”</a:t>
            </a:r>
          </a:p>
          <a:p>
            <a:pPr lvl="0" indent="0" marL="0">
              <a:buNone/>
            </a:pPr>
          </a:p>
          <a:p>
            <a:pPr lvl="0" indent="0" marL="0">
              <a:buNone/>
            </a:pPr>
            <a:r>
              <a:rPr b="1"/>
              <a:t>Key message:</a:t>
            </a:r>
            <a:r>
              <a:rPr/>
              <a:t> - “The best prompters don’t write one perfect prompt, they write a good prompt, evaluate the output, and refine” - “Before lunch, save your best prompt to the template library on your worksheet”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afternoon is about application”</a:t>
            </a:r>
          </a:p>
          <a:p>
            <a:pPr lvl="0" indent="0" marL="0">
              <a:buNone/>
            </a:pPr>
          </a:p>
          <a:p>
            <a:pPr lvl="0"/>
            <a:r>
              <a:rPr/>
              <a:t>“First: using AI to analyse data”</a:t>
            </a:r>
          </a:p>
          <a:p>
            <a:pPr lvl="0" indent="0" marL="0">
              <a:buNone/>
            </a:pPr>
          </a:p>
          <a:p>
            <a:pPr lvl="0"/>
            <a:r>
              <a:rPr/>
              <a:t>“AI can find patterns in spreadsheets, create visualisations, run analysis, and summarise findings”</a:t>
            </a:r>
          </a:p>
          <a:p>
            <a:pPr lvl="0" indent="0" marL="0">
              <a:buNone/>
            </a:pPr>
          </a:p>
          <a:p>
            <a:pPr lvl="0"/>
            <a:r>
              <a:rPr/>
              <a:t>“But, and this is critical, AI makes arithmetic errors, confuses correlation with causation, and sometimes invents data points”</a:t>
            </a:r>
          </a:p>
          <a:p>
            <a:pPr lvl="0" indent="0" marL="0">
              <a:buNone/>
            </a:pPr>
          </a:p>
          <a:p>
            <a:pPr lvl="0"/>
            <a:r>
              <a:rPr/>
              <a:t>“You need a process. That’s Framework 3.”</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most common mistake: skipping Prepare and jumping straight to Upload”</a:t>
            </a:r>
          </a:p>
          <a:p>
            <a:pPr lvl="0" indent="0" marL="0">
              <a:buNone/>
            </a:pPr>
          </a:p>
          <a:p>
            <a:pPr lvl="0"/>
            <a:r>
              <a:rPr/>
              <a:t>“If you don’t know what question you’re answering, you can’t evaluate whether the AI’s answer is good”</a:t>
            </a:r>
          </a:p>
          <a:p>
            <a:pPr lvl="0" indent="0" marL="0">
              <a:buNone/>
            </a:pPr>
          </a:p>
          <a:p>
            <a:pPr lvl="0"/>
            <a:r>
              <a:rPr/>
              <a:t>“Two parts to Prepare people miss: write the question down, and start a FRESH chat. Long conversations drift, after enough back-and-forth, the model has absorbed your framing and slowly stops challenging you. A fresh chat gives you an independent read.”</a:t>
            </a:r>
          </a:p>
          <a:p>
            <a:pPr lvl="0" indent="0" marL="0">
              <a:buNone/>
            </a:pPr>
          </a:p>
          <a:p>
            <a:pPr lvl="0"/>
            <a:r>
              <a:rPr/>
              <a:t>“The most important step: Verify. AI is fast but unreliable with numbers.”</a:t>
            </a:r>
          </a:p>
          <a:p>
            <a:pPr lvl="0" indent="0" marL="0">
              <a:buNone/>
            </a:pPr>
          </a:p>
          <a:p>
            <a:pPr lvl="0"/>
            <a:r>
              <a:rPr/>
              <a:t>“The discipline of checking is what separates useful AI-assisted analysis from dangerous AI-assisted analysis”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“AI finds patterns fast, but humans decide what patterns mean”</a:t>
            </a:r>
          </a:p>
          <a:p>
            <a:pPr lvl="0" indent="0" marL="0">
              <a:buNone/>
            </a:pPr>
          </a:p>
          <a:p>
            <a:pPr lvl="0"/>
            <a:r>
              <a:rPr/>
              <a:t>“Here’s the trust tool again: a number that will drive a decision is PRECISION. ‘About right’ is the same as wrong there, no matter how good the sentence looks.”</a:t>
            </a:r>
          </a:p>
          <a:p>
            <a:pPr lvl="0" indent="0" marL="0">
              <a:buNone/>
            </a:pPr>
          </a:p>
          <a:p>
            <a:pPr lvl="0"/>
            <a:r>
              <a:rPr/>
              <a:t>“And note the direction of the check: asking the model ‘are you sure?’ doesn’t count. It will reaffirm its own answer. The check must come from outside, against the data, the source, an independent standard. That’s an old professional skill, not a new AI skill.”</a:t>
            </a:r>
          </a:p>
          <a:p>
            <a:pPr lvl="0" indent="0" marL="0">
              <a:buNone/>
            </a:pPr>
          </a:p>
          <a:p>
            <a:pPr lvl="0"/>
            <a:r>
              <a:rPr/>
              <a:t>“Same reason you start a fresh chat for analysis: a long conversation drifts toward your view. By message twenty, you’re not getting an independent assessment anymore, you’re getting your own opinion echoed back with better grammar.”</a:t>
            </a:r>
          </a:p>
          <a:p>
            <a:pPr lvl="0" indent="0" marL="0">
              <a:buNone/>
            </a:pPr>
          </a:p>
          <a:p>
            <a:pPr lvl="0"/>
            <a:r>
              <a:rPr/>
              <a:t>“Spot-check totals and averages. Compare to what you already know.”</a:t>
            </a:r>
          </a:p>
          <a:p>
            <a:pPr lvl="0" indent="0" marL="0">
              <a:buNone/>
            </a:pPr>
          </a:p>
          <a:p>
            <a:pPr lvl="0"/>
            <a:r>
              <a:rPr/>
              <a:t>“If the AI says something surprising, that’s either a genuine insight or a convincing fake. Your job is to figure out which.”</a:t>
            </a:r>
          </a:p>
          <a:p>
            <a:pPr lvl="0" indent="0" marL="0">
              <a:buNone/>
            </a:pPr>
          </a:p>
          <a:p>
            <a:pPr lvl="0"/>
            <a:r>
              <a:rPr/>
              <a:t>“In this exercise, you’ll get to practise exactly that, with some claims that have been planted for you…”</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“You have the RetailFlow customer service dataset, 6 months of ticket data”</a:t>
            </a:r>
          </a:p>
          <a:p>
            <a:pPr lvl="0" indent="0" marL="0">
              <a:buNone/>
            </a:pPr>
          </a:p>
          <a:p>
            <a:pPr lvl="0"/>
            <a:r>
              <a:rPr/>
              <a:t>“Upload it to your AI tool and follow the Analysis Workflow on your worksheet”</a:t>
            </a:r>
          </a:p>
          <a:p>
            <a:pPr lvl="0" indent="0" marL="0">
              <a:buNone/>
            </a:pPr>
          </a:p>
          <a:p>
            <a:pPr lvl="0"/>
            <a:r>
              <a:rPr/>
              <a:t>“Work individually or in pairs. Start by asking the AI to describe the dataset.”</a:t>
            </a:r>
          </a:p>
          <a:p>
            <a:pPr lvl="0" indent="0" marL="0">
              <a:buNone/>
            </a:pPr>
          </a:p>
          <a:p>
            <a:pPr lvl="0"/>
            <a:r>
              <a:rPr/>
              <a:t>“You have 20 minutes of working time, then the Verification Challenge, then we’ll debrief”</a:t>
            </a:r>
          </a:p>
          <a:p>
            <a:pPr lvl="0" indent="0" marL="0">
              <a:buNone/>
            </a:pPr>
          </a:p>
          <a:p>
            <a:pPr lvl="0"/>
            <a:r>
              <a:rPr/>
              <a:t>“Remember: Prepare your question, Upload, Question progressively, Verify, Refine, Present”</a:t>
            </a:r>
          </a:p>
          <a:p>
            <a:pPr lvl="0" indent="0" marL="0">
              <a:buNone/>
            </a:pPr>
          </a:p>
          <a:p>
            <a:pPr lvl="0"/>
            <a:r>
              <a:rPr/>
              <a:t>“The Verification Challenge: your worksheet has three ‘insights’ about this data. Each sounds professional and plausible. At least one is wrong, and at least one is stated wrong. Trust nothing on fluency, verify against the data itself.”</a:t>
            </a:r>
          </a:p>
          <a:p>
            <a:pPr lvl="0" indent="0" marL="0">
              <a:buNone/>
            </a:pPr>
          </a:p>
          <a:p>
            <a:pPr lvl="0"/>
            <a:r>
              <a:rPr/>
              <a:t>“The brief at the end should be something you could hand to a real manager”</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Debrief (10 min):</a:t>
            </a:r>
          </a:p>
          <a:p>
            <a:pPr lvl="0" indent="0" marL="0">
              <a:buNone/>
            </a:pPr>
          </a:p>
          <a:p>
            <a:pPr lvl="0"/>
            <a:r>
              <a:rPr/>
              <a:t>“What were the top drivers of dissatisfaction?” [Returns &amp; Refunds, Delivery Problems, response time]</a:t>
            </a:r>
          </a:p>
          <a:p>
            <a:pPr lvl="0" indent="0" marL="0">
              <a:buNone/>
            </a:pPr>
          </a:p>
          <a:p>
            <a:pPr lvl="0"/>
            <a:r>
              <a:rPr/>
              <a:t>“When do response times blow out?” [Sundays, Mondays, December, Email channel]</a:t>
            </a:r>
          </a:p>
          <a:p>
            <a:pPr lvl="0" indent="0" marL="0">
              <a:buNone/>
            </a:pPr>
          </a:p>
          <a:p>
            <a:pPr lvl="0"/>
            <a:r>
              <a:rPr/>
              <a:t>“Did anyone catch the AI getting something wrong?” [THIS IS THE KEY QUESTION]</a:t>
            </a:r>
          </a:p>
          <a:p>
            <a:pPr lvl="0" indent="0" marL="0">
              <a:buNone/>
            </a:pPr>
          </a:p>
          <a:p>
            <a:pPr lvl="0"/>
            <a:r>
              <a:rPr/>
              <a:t>If someone caught an error: spend time on it. This is the verification lesson.</a:t>
            </a:r>
          </a:p>
          <a:p>
            <a:pPr lvl="0" indent="0" marL="0">
              <a:buNone/>
            </a:pPr>
          </a:p>
          <a:p>
            <a:pPr lvl="0"/>
            <a:r>
              <a:rPr/>
              <a:t>If nobody verified: “If you didn’t verify, you don’t actually know if those findings are correct.”</a:t>
            </a:r>
          </a:p>
          <a:p>
            <a:pPr lvl="0" indent="0" marL="0">
              <a:buNone/>
            </a:pPr>
          </a:p>
          <a:p>
            <a:pPr lvl="0" indent="0" marL="0">
              <a:buNone/>
            </a:pPr>
            <a:r>
              <a:rPr b="1"/>
              <a:t>Then the claim reveal, take a vote per claim before revealing:</a:t>
            </a:r>
            <a:r>
              <a:rPr/>
              <a:t> - Claim A verified: 13.2h vs 4.0h is 3.3x. Accurate. - Claim B refuted TWICE: Returns &amp; Refunds is lowest (~1.6 vs ~3.1), and Account Issues actually has the HIGHEST resolution rate (~96%), so “most complex” collapses too. This is the convincing fake: plausible mechanism, professional tone, wrong on the data. If forwarded to Karen, she’d fix the wrong thing. - Claim C overstated: 13.7h vs 9.2h overall is 1.5x, not 2x. Directionally right, number wrong. Trust tool check: that number drives a staffing decision, precision quadrant. Close is the same as wrong.</a:t>
            </a:r>
          </a:p>
          <a:p>
            <a:pPr lvl="0" indent="0" marL="0">
              <a:buNone/>
            </a:pPr>
          </a:p>
          <a:p>
            <a:pPr lvl="0" indent="0" marL="0">
              <a:buNone/>
            </a:pPr>
            <a:r>
              <a:rPr b="1"/>
              <a:t>The landing:</a:t>
            </a:r>
            <a:r>
              <a:rPr/>
              <a:t> - “Claim B is the one to remember. Fluent, professional, plausible, and wrong. That’s what AI failure looks like: not nonsense, but a convincing average. The form of insight without the substance. The substance, the check, comes from outside the tool. That’s your edge.”</a:t>
            </a:r>
          </a:p>
          <a:p>
            <a:pPr lvl="0" indent="0" marL="0">
              <a:buNone/>
            </a:pPr>
          </a:p>
          <a:p>
            <a:pPr lvl="0" indent="0" marL="0">
              <a:buNone/>
            </a:pPr>
            <a:r>
              <a:rPr b="1"/>
              <a:t>Bridge:</a:t>
            </a:r>
            <a:r>
              <a:rPr/>
              <a:t> - “You just did in 25 minutes what would have taken hours manually. That’s the promise. But the quality depended entirely on Step 4, Verify.”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“Chat interfaces like ChatGPT and Claude are the most visible AI tools”</a:t>
            </a:r>
          </a:p>
          <a:p>
            <a:pPr lvl="0" indent="0" marL="0">
              <a:buNone/>
            </a:pPr>
          </a:p>
          <a:p>
            <a:pPr lvl="0"/>
            <a:r>
              <a:rPr/>
              <a:t>“But AI is increasingly embedded in the software you already use”</a:t>
            </a:r>
          </a:p>
          <a:p>
            <a:pPr lvl="0" indent="0" marL="0">
              <a:buNone/>
            </a:pPr>
          </a:p>
          <a:p>
            <a:pPr lvl="0"/>
            <a:r>
              <a:rPr/>
              <a:t>“Within a few years, using AI won’t feel like a separate activity, it’ll just be how software works”</a:t>
            </a:r>
          </a:p>
          <a:p>
            <a:pPr lvl="0" indent="0" marL="0">
              <a:buNone/>
            </a:pPr>
          </a:p>
          <a:p>
            <a:pPr lvl="0"/>
            <a:r>
              <a:rPr/>
              <a:t>“The question isn’t whether you’ll use AI, it’s whether you’ll use it well”</a:t>
            </a:r>
          </a:p>
          <a:p>
            <a:pPr lvl="0" indent="0" marL="0">
              <a:buNone/>
            </a:pPr>
          </a:p>
          <a:p>
            <a:pPr lvl="0"/>
            <a:r>
              <a:rPr/>
              <a:t>“Framework 4 helps you figure out where to start.”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“One responsible-use point that surprises people: your assistant accumulates knowledge about YOU”</a:t>
            </a:r>
          </a:p>
          <a:p>
            <a:pPr lvl="0" indent="0" marL="0">
              <a:buNone/>
            </a:pPr>
          </a:p>
          <a:p>
            <a:pPr lvl="0"/>
            <a:r>
              <a:rPr/>
              <a:t>“It’s three separate stores, and they’re managed separately. The facts you explicitly saved. The inferences it drew from your conversations, that’s the one that makes your assistant feel ‘too personal’, and deleting your chats does NOT delete it. And the chat history itself.”</a:t>
            </a:r>
          </a:p>
          <a:p>
            <a:pPr lvl="0" indent="0" marL="0">
              <a:buNone/>
            </a:pPr>
          </a:p>
          <a:p>
            <a:pPr lvl="0"/>
            <a:r>
              <a:rPr/>
              <a:t>“Expect this question within a week of using AI regularly: ‘it knows too much about me, how do I make it forget?’ The answer is in personalisation or privacy settings, every platform names them differently, so look for ‘memory’, ‘personalisation’, or ‘data controls’.”</a:t>
            </a:r>
          </a:p>
          <a:p>
            <a:pPr lvl="0" indent="0" marL="0">
              <a:buNone/>
            </a:pPr>
          </a:p>
          <a:p>
            <a:pPr lvl="0"/>
            <a:r>
              <a:rPr/>
              <a:t>“And going forward: private or temporary chat mode. It doesn’t read from or write to memory. Use it for anything you’d rather the assistant not learn, the same logic as a fresh chat for independent analysis, but for privacy instead of objectivity.”</a:t>
            </a:r>
          </a:p>
          <a:p>
            <a:pPr lvl="0" indent="0" marL="0">
              <a:buNone/>
            </a:pPr>
          </a:p>
          <a:p>
            <a:pPr lvl="0"/>
            <a:r>
              <a:rPr/>
              <a:t>“At work, your IT team controls the enterprise settings, check what’s approved before assuming anything about where your data goes.”</a:t>
            </a:r>
          </a:p>
          <a:p>
            <a:pPr lvl="0" indent="0" marL="0">
              <a:buNone/>
            </a:pPr>
          </a:p>
          <a:p>
            <a:pPr lvl="0"/>
            <a:r>
              <a:rPr/>
              <a:t>“Framework 4 helps you figure out where AI fits in your actual work.”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“Not every part of your job benefits from AI. The skill is knowing WHERE it adds value.”</a:t>
            </a:r>
          </a:p>
          <a:p>
            <a:pPr lvl="0" indent="0" marL="0">
              <a:buNone/>
            </a:pPr>
          </a:p>
          <a:p>
            <a:pPr lvl="0"/>
            <a:r>
              <a:rPr/>
              <a:t>“Start with Automate, those are your Quick Wins. Low effort, high time saved.”</a:t>
            </a:r>
          </a:p>
          <a:p>
            <a:pPr lvl="0" indent="0" marL="0">
              <a:buNone/>
            </a:pPr>
          </a:p>
          <a:p>
            <a:pPr lvl="0"/>
            <a:r>
              <a:rPr/>
              <a:t>“Assist and Generate are where most professionals will spend the most time with AI.”</a:t>
            </a:r>
          </a:p>
          <a:p>
            <a:pPr lvl="0" indent="0" marL="0">
              <a:buNone/>
            </a:pPr>
          </a:p>
          <a:p>
            <a:pPr lvl="0"/>
            <a:r>
              <a:rPr/>
              <a:t>“Analyse is what you practised in Exercise 3.”</a:t>
            </a:r>
          </a:p>
          <a:p>
            <a:pPr lvl="0" indent="0" marL="0">
              <a:buNone/>
            </a:pPr>
          </a:p>
          <a:p>
            <a:pPr lvl="0"/>
            <a:r>
              <a:rPr/>
              <a:t>“Some tasks are Human-Only: empathy, ethics, relationships, novel judgment. Keep those.”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“Start in the top-left. Quick Wins build confidence and momentum.”</a:t>
            </a:r>
          </a:p>
          <a:p>
            <a:pPr lvl="0" indent="0" marL="0">
              <a:buNone/>
            </a:pPr>
          </a:p>
          <a:p>
            <a:pPr lvl="0"/>
            <a:r>
              <a:rPr/>
              <a:t>“Don’t try to automate your entire job on day one”</a:t>
            </a:r>
          </a:p>
          <a:p>
            <a:pPr lvl="0" indent="0" marL="0">
              <a:buNone/>
            </a:pPr>
          </a:p>
          <a:p>
            <a:pPr lvl="0"/>
            <a:r>
              <a:rPr/>
              <a:t>“Pick the task you do most frequently that bores you the most. That’s your first candidate.”</a:t>
            </a:r>
          </a:p>
          <a:p>
            <a:pPr lvl="0" indent="0" marL="0">
              <a:buNone/>
            </a:pPr>
          </a:p>
          <a:p>
            <a:pPr lvl="0"/>
            <a:r>
              <a:rPr/>
              <a:t>“Now let’s apply this to YOUR work…”</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“You’ll hear ‘agents’ constantly over the next year. Here’s the durable version, no hype.”</a:t>
            </a:r>
          </a:p>
          <a:p>
            <a:pPr lvl="0" indent="0" marL="0">
              <a:buNone/>
            </a:pPr>
          </a:p>
          <a:p>
            <a:pPr lvl="0"/>
            <a:r>
              <a:rPr/>
              <a:t>“An agent is a model in a loop with tools. It plans, drafts, checks, calls something, tries again.”</a:t>
            </a:r>
          </a:p>
          <a:p>
            <a:pPr lvl="0" indent="0" marL="0">
              <a:buNone/>
            </a:pPr>
          </a:p>
          <a:p>
            <a:pPr lvl="0"/>
            <a:r>
              <a:rPr/>
              <a:t>“What makes it good or dangerous is the harness around the model: the standing instructions, what context it can read, which tools it may call, and whether there’s a real check at the end. ChatGPT’s chat box is a harness. So is a coding agent. So is the booking system at your work that drafts replies.”</a:t>
            </a:r>
          </a:p>
          <a:p>
            <a:pPr lvl="0" indent="0" marL="0">
              <a:buNone/>
            </a:pPr>
          </a:p>
          <a:p>
            <a:pPr lvl="0"/>
            <a:r>
              <a:rPr/>
              <a:t>“The part you own is the skill: a plain-text brief saved in a folder. When your request matches its description, the harness loads it. It’s your RTCF briefing, written once, reused forever, and because it’s just text it moves between tools.”</a:t>
            </a:r>
          </a:p>
          <a:p>
            <a:pPr lvl="0" indent="0" marL="0">
              <a:buNone/>
            </a:pPr>
          </a:p>
          <a:p>
            <a:pPr lvl="0"/>
            <a:r>
              <a:rPr/>
              <a:t>“And the trust tool doesn’t retire. An agent automates the loop, not the standard. A loop that checks its own work inherits the blind spot we saw in Exercise 3: the model reaffirms its own answer. The standard still has to come from outside. Your test, your data, your reviewer, your rubric.”</a:t>
            </a:r>
          </a:p>
          <a:p>
            <a:pPr lvl="0" indent="0" marL="0">
              <a:buNone/>
            </a:pPr>
          </a:p>
          <a:p>
            <a:pPr lvl="0"/>
            <a:r>
              <a:rPr/>
              <a:t>“Everything you built today is exactly what goes into a skill file: the brief, the format, the rules, the verification step. If agents arrive in your workplace, you’re not starting from zero.”</a:t>
            </a:r>
          </a:p>
          <a:p>
            <a:pPr lvl="0" indent="0" marL="0">
              <a:buNone/>
            </a:pPr>
          </a:p>
          <a:p>
            <a:pPr lvl="0"/>
            <a:r>
              <a:rPr/>
              <a:t>“If you want to see a minimal working version, I can demo it in three minutes: a local model, a one-page skill file, and RetailFlow support tickets triaged into a table, same prompt before and after the skill exists. The demo kit is in the instructor materials. No installs today; the idea is what matters.”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“Everything today has used our scenarios and our data. This exercise is about YOU.”</a:t>
            </a:r>
          </a:p>
          <a:p>
            <a:pPr lvl="0" indent="0" marL="0">
              <a:buNone/>
            </a:pPr>
          </a:p>
          <a:p>
            <a:pPr lvl="0"/>
            <a:r>
              <a:rPr/>
              <a:t>“Pick one task you do at least weekly that takes 30+ minutes”</a:t>
            </a:r>
          </a:p>
          <a:p>
            <a:pPr lvl="0" indent="0" marL="0">
              <a:buNone/>
            </a:pPr>
          </a:p>
          <a:p>
            <a:pPr lvl="0"/>
            <a:r>
              <a:rPr/>
              <a:t>“Map every step: what you do, what tool you use, how long it takes”</a:t>
            </a:r>
          </a:p>
          <a:p>
            <a:pPr lvl="0" indent="0" marL="0">
              <a:buNone/>
            </a:pPr>
          </a:p>
          <a:p>
            <a:pPr lvl="0"/>
            <a:r>
              <a:rPr/>
              <a:t>“Then classify each step using the Opportunity Finder: Automate, Assist, Generate, Analyse, or Human-Only”</a:t>
            </a:r>
          </a:p>
          <a:p>
            <a:pPr lvl="0" indent="0" marL="0">
              <a:buNone/>
            </a:pPr>
          </a:p>
          <a:p>
            <a:pPr lvl="0"/>
            <a:r>
              <a:rPr/>
              <a:t>“Redesign the workflow. Then test one step for real.”</a:t>
            </a:r>
          </a:p>
          <a:p>
            <a:pPr lvl="0" indent="0" marL="0">
              <a:buNone/>
            </a:pPr>
          </a:p>
          <a:p>
            <a:pPr lvl="0"/>
            <a:r>
              <a:rPr/>
              <a:t>“Take 2 minutes to choose your task. If you’re stuck, I have suggestions.”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“Step back and look at what you’ve built today”</a:t>
            </a:r>
          </a:p>
          <a:p>
            <a:pPr lvl="0" indent="0" marL="0">
              <a:buNone/>
            </a:pPr>
          </a:p>
          <a:p>
            <a:pPr lvl="0"/>
            <a:r>
              <a:rPr/>
              <a:t>“The trust tool is the thread: encounter an output → average or precise? small or large? → that tells you how much checking it needs”</a:t>
            </a:r>
          </a:p>
          <a:p>
            <a:pPr lvl="0" indent="0" marL="0">
              <a:buNone/>
            </a:pPr>
          </a:p>
          <a:p>
            <a:pPr lvl="0"/>
            <a:r>
              <a:rPr/>
              <a:t>“You now have four tools that work together:”</a:t>
            </a:r>
          </a:p>
          <a:p>
            <a:pPr lvl="0" indent="0" marL="0">
              <a:buNone/>
            </a:pPr>
          </a:p>
          <a:p>
            <a:pPr lvl="0"/>
            <a:r>
              <a:rPr/>
              <a:t>“Encounter a task → check the Spectrum → if AI is involved, write a brief using RTCF → if there’s data, follow the Analysis Workflow with verification built in → once a week, use the Opportunity Finder to spot new tasks to try”</a:t>
            </a:r>
          </a:p>
          <a:p>
            <a:pPr lvl="0" indent="0" marL="0">
              <a:buNone/>
            </a:pPr>
          </a:p>
          <a:p>
            <a:pPr lvl="0"/>
            <a:r>
              <a:rPr/>
              <a:t>“The key principle across all of it: conversation, not delegation. The tool returns the form of the work; you supply the substance, the context, the judgement, the check. You own the output and the decisions.”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“If you remember five things from today, remember these”</a:t>
            </a:r>
          </a:p>
          <a:p>
            <a:pPr lvl="0" indent="0" marL="0">
              <a:buNone/>
            </a:pPr>
          </a:p>
          <a:p>
            <a:pPr lvl="0"/>
            <a:r>
              <a:rPr/>
              <a:t>“Conversation, not delegation: the prompt is a briefing, not an incantation. The tool gives you the form of the work; you supply what it can’t: intent, context, standards.”</a:t>
            </a:r>
          </a:p>
          <a:p>
            <a:pPr lvl="0" indent="0" marL="0">
              <a:buNone/>
            </a:pPr>
          </a:p>
          <a:p>
            <a:pPr lvl="0"/>
            <a:r>
              <a:rPr/>
              <a:t>“Your judgement is the edge: 27 people in this room, same tools. What separates you is the discipline you bring to it.”</a:t>
            </a:r>
          </a:p>
          <a:p>
            <a:pPr lvl="0" indent="0" marL="0">
              <a:buNone/>
            </a:pPr>
          </a:p>
          <a:p>
            <a:pPr lvl="0"/>
            <a:r>
              <a:rPr/>
              <a:t>“Verify from outside: the model will happily reaffirm its own wrong answer. The check is yours, against the data and the source.”</a:t>
            </a:r>
          </a:p>
          <a:p>
            <a:pPr lvl="0" indent="0" marL="0">
              <a:buNone/>
            </a:pPr>
          </a:p>
          <a:p>
            <a:pPr lvl="0"/>
            <a:r>
              <a:rPr/>
              <a:t>“One more thing, and it’s the big picture: for a century, work trained people for free. The grunt work was the tuition, and everyone starting out paid it. AI just ended that arrangement, the grunt work is the first thing it takes over. Practice is now something you choose, like exercise. The compare habit is the workout. The action plan you’re about to write is the schedule.”</a:t>
            </a:r>
          </a:p>
          <a:p>
            <a:pPr lvl="0" indent="0" marL="0">
              <a:buNone/>
            </a:pPr>
          </a:p>
          <a:p>
            <a:pPr lvl="0"/>
            <a:r>
              <a:rPr/>
              <a:t>“Never send AI output without reviewing it. Your name is on it, not ChatGPT’s.”</a:t>
            </a:r>
          </a:p>
          <a:p>
            <a:pPr lvl="0" indent="0" marL="0">
              <a:buNone/>
            </a:pPr>
          </a:p>
          <a:p>
            <a:pPr lvl="0"/>
            <a:r>
              <a:rPr/>
              <a:t>“Start with one task this week. Not five. One. Build from there.”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“Take out your Personal Action Plan template”</a:t>
            </a:r>
          </a:p>
          <a:p>
            <a:pPr lvl="0" indent="0" marL="0">
              <a:buNone/>
            </a:pPr>
          </a:p>
          <a:p>
            <a:pPr lvl="0"/>
            <a:r>
              <a:rPr/>
              <a:t>“The template has four moves at the top: decide, practise, trade, revisit. They map onto the three timeframes. This week is practise: one compare drill on a task that matters. This month is trade: redesign one workflow and hand over what AI has proven. This quarter is decide and revisit: name what must stay human, and check whether the line has moved.”</a:t>
            </a:r>
          </a:p>
          <a:p>
            <a:pPr lvl="0" indent="0" marL="0">
              <a:buNone/>
            </a:pPr>
          </a:p>
          <a:p>
            <a:pPr lvl="0"/>
            <a:r>
              <a:rPr/>
              <a:t>“This is the most important part of the day, making it concrete”</a:t>
            </a:r>
          </a:p>
          <a:p>
            <a:pPr lvl="0" indent="0" marL="0">
              <a:buNone/>
            </a:pPr>
          </a:p>
          <a:p>
            <a:pPr lvl="0"/>
            <a:r>
              <a:rPr/>
              <a:t>“Don’t write ‘use AI more.’ Write: ‘I will use Claude to draft my weekly status update on Thursday using RTCF.’”</a:t>
            </a:r>
          </a:p>
          <a:p>
            <a:pPr lvl="0" indent="0" marL="0">
              <a:buNone/>
            </a:pPr>
          </a:p>
          <a:p>
            <a:pPr lvl="0"/>
            <a:r>
              <a:rPr/>
              <a:t>“Specific task. Specific tool. Specific day.”</a:t>
            </a:r>
          </a:p>
          <a:p>
            <a:pPr lvl="0" indent="0" marL="0">
              <a:buNone/>
            </a:pPr>
          </a:p>
          <a:p>
            <a:pPr lvl="0"/>
            <a:r>
              <a:rPr/>
              <a:t>Give 10 minutes of quiet time. Don’t talk over this.</a:t>
            </a:r>
          </a:p>
          <a:p>
            <a:pPr lvl="0" indent="0" marL="0">
              <a:buNone/>
            </a:pPr>
          </a:p>
          <a:p>
            <a:pPr lvl="0"/>
            <a:r>
              <a:rPr/>
              <a:t>Ask 2-3 volunteers to share their “this week” commitment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course gave you personal AI skills”</a:t>
            </a:r>
          </a:p>
          <a:p>
            <a:pPr lvl="0" indent="0" marL="0">
              <a:buNone/>
            </a:pPr>
          </a:p>
          <a:p>
            <a:pPr lvl="0"/>
            <a:r>
              <a:rPr/>
              <a:t>“The Business Innovation course teaches you to evaluate AI opportunities strategically, which projects are worth investing in”</a:t>
            </a:r>
          </a:p>
          <a:p>
            <a:pPr lvl="0" indent="0" marL="0">
              <a:buNone/>
            </a:pPr>
          </a:p>
          <a:p>
            <a:pPr lvl="0"/>
            <a:r>
              <a:rPr/>
              <a:t>“The Leadership course teaches you to lead and deliver those projects, stakeholders, crises, scale-or-kill decisions”</a:t>
            </a:r>
          </a:p>
          <a:p>
            <a:pPr lvl="0" indent="0" marL="0">
              <a:buNone/>
            </a:pPr>
          </a:p>
          <a:p>
            <a:pPr lvl="0"/>
            <a:r>
              <a:rPr/>
              <a:t>“Together, the three courses cover the full AI capability stack: use it, choose it, lead it.”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“Please take 5 minutes to complete the feedback form, the QR code is on screen and we’ll hold here until you’re done”</a:t>
            </a:r>
          </a:p>
          <a:p>
            <a:pPr lvl="0" indent="0" marL="0">
              <a:buNone/>
            </a:pPr>
          </a:p>
          <a:p>
            <a:pPr lvl="0"/>
            <a:r>
              <a:rPr/>
              <a:t>“Your honest input helps us improve these workshops”</a:t>
            </a:r>
          </a:p>
          <a:p>
            <a:pPr lvl="0" indent="0" marL="0">
              <a:buNone/>
            </a:pPr>
          </a:p>
          <a:p>
            <a:pPr lvl="0"/>
            <a:r>
              <a:rPr/>
              <a:t>“Digital copies of all materials will be sent via email”</a:t>
            </a:r>
          </a:p>
          <a:p>
            <a:pPr lvl="0" indent="0" marL="0">
              <a:buNone/>
            </a:pPr>
          </a:p>
          <a:p>
            <a:pPr lvl="0"/>
            <a:r>
              <a:rPr/>
              <a:t>“Good luck with your AI experiments this week, and remember: brief it, don’t spell it. Trust the average where averages are fine, and run the check where only exact will do.”</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Practical AI for Professionals</a:t>
            </a:r>
          </a:p>
        </p:txBody>
      </p:sp>
      <p:sp>
        <p:nvSpPr>
          <p:cNvPr id="3" name="Subtitle 2"/>
          <p:cNvSpPr>
            <a:spLocks noGrp="1"/>
          </p:cNvSpPr>
          <p:nvPr>
            <p:ph type="subTitle" idx="1"/>
          </p:nvPr>
        </p:nvSpPr>
        <p:spPr>
          <a:xfrm>
            <a:off x="1371600" y="2914650"/>
            <a:ext cx="6400800" cy="1314450"/>
          </a:xfrm>
        </p:spPr>
        <p:txBody>
          <a:bodyPr/>
          <a:lstStyle/>
          <a:p>
            <a:pPr lvl="0" indent="0" marL="0">
              <a:buNone/>
            </a:pPr>
            <a:r>
              <a:rPr/>
              <a:t>A Hands-On Workshop for Using AI in Your Daily Work</a:t>
            </a:r>
            <a:br/>
            <a:br/>
            <a:r>
              <a:rPr/>
              <a:t>Dr. Michael Borck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 Today</a:t>
            </a:r>
          </a:p>
        </p:txBody>
      </p:sp>
      <p:sp>
        <p:nvSpPr>
          <p:cNvPr id="3" name="Content Placeholder 2"/>
          <p:cNvSpPr>
            <a:spLocks noGrp="1"/>
          </p:cNvSpPr>
          <p:nvPr>
            <p:ph idx="1"/>
          </p:nvPr>
        </p:nvSpPr>
        <p:spPr/>
        <p:txBody>
          <a:bodyPr/>
          <a:lstStyle/>
          <a:p>
            <a:pPr lvl="0" indent="0" marL="0">
              <a:buNone/>
            </a:pPr>
            <a:r>
              <a:rPr b="1"/>
              <a:t>This is a workshop, not a lecture.</a:t>
            </a:r>
          </a:p>
          <a:p>
            <a:pPr lvl="0"/>
            <a:r>
              <a:rPr/>
              <a:t>You’ll spend most of the day with your hands on a keyboard</a:t>
            </a:r>
          </a:p>
          <a:p>
            <a:pPr lvl="0"/>
            <a:r>
              <a:rPr/>
              <a:t>You’ll use real AI tools on real tasks</a:t>
            </a:r>
          </a:p>
          <a:p>
            <a:pPr lvl="0"/>
            <a:r>
              <a:rPr/>
              <a:t>You’ll make mistakes, that’s where the learning happens</a:t>
            </a:r>
          </a:p>
          <a:p>
            <a:pPr lvl="0"/>
            <a:r>
              <a:rPr/>
              <a:t>You’ll leave with techniques you can apply immediately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Journey</a:t>
            </a:r>
          </a:p>
        </p:txBody>
      </p:sp>
      <p:sp>
        <p:nvSpPr>
          <p:cNvPr id="3" name="Content Placeholder 2"/>
          <p:cNvSpPr>
            <a:spLocks noGrp="1"/>
          </p:cNvSpPr>
          <p:nvPr>
            <p:ph idx="1"/>
          </p:nvPr>
        </p:nvSpPr>
        <p:spPr/>
        <p:txBody>
          <a:bodyPr/>
          <a:lstStyle/>
          <a:p>
            <a:pPr lvl="0" indent="0" marL="0">
              <a:buNone/>
            </a:pPr>
            <a:r>
              <a:rPr b="1"/>
              <a:t>Timeline for the Day:</a:t>
            </a:r>
          </a:p>
          <a:p>
            <a:pPr lvl="0"/>
            <a:r>
              <a:rPr/>
              <a:t>9:00-10:30 → </a:t>
            </a:r>
            <a:r>
              <a:rPr b="1"/>
              <a:t>AI Foundations &amp; Orientation</a:t>
            </a:r>
          </a:p>
          <a:p>
            <a:pPr lvl="0"/>
            <a:r>
              <a:rPr/>
              <a:t>10:30-11:00 → Morning Tea</a:t>
            </a:r>
          </a:p>
          <a:p>
            <a:pPr lvl="0"/>
            <a:r>
              <a:rPr/>
              <a:t>11:00-12:30 → </a:t>
            </a:r>
            <a:r>
              <a:rPr b="1"/>
              <a:t>Prompt &amp; Context Engineering</a:t>
            </a:r>
          </a:p>
          <a:p>
            <a:pPr lvl="0"/>
            <a:r>
              <a:rPr/>
              <a:t>12:30-1:15 → Lunch &amp; Networking</a:t>
            </a:r>
          </a:p>
          <a:p>
            <a:pPr lvl="0"/>
            <a:r>
              <a:rPr/>
              <a:t>1:15-2:30 → </a:t>
            </a:r>
            <a:r>
              <a:rPr b="1"/>
              <a:t>AI-Powered Data Analysis</a:t>
            </a:r>
          </a:p>
          <a:p>
            <a:pPr lvl="0"/>
            <a:r>
              <a:rPr/>
              <a:t>2:30-3:00 → Afternoon Tea</a:t>
            </a:r>
          </a:p>
          <a:p>
            <a:pPr lvl="0"/>
            <a:r>
              <a:rPr/>
              <a:t>3:00-4:00 → </a:t>
            </a:r>
            <a:r>
              <a:rPr b="1"/>
              <a:t>AI in Your Workflow</a:t>
            </a:r>
          </a:p>
          <a:p>
            <a:pPr lvl="0"/>
            <a:r>
              <a:rPr/>
              <a:t>4:00-4:30 → </a:t>
            </a:r>
            <a:r>
              <a:rPr b="1"/>
              <a:t>Personal Action Planning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You’ll Learn</a:t>
            </a:r>
          </a:p>
        </p:txBody>
      </p:sp>
      <p:sp>
        <p:nvSpPr>
          <p:cNvPr id="3" name="Content Placeholder 2"/>
          <p:cNvSpPr>
            <a:spLocks noGrp="1"/>
          </p:cNvSpPr>
          <p:nvPr>
            <p:ph idx="1"/>
          </p:nvPr>
        </p:nvSpPr>
        <p:spPr/>
        <p:txBody>
          <a:bodyPr/>
          <a:lstStyle/>
          <a:p>
            <a:pPr lvl="0" indent="0" marL="0">
              <a:buNone/>
            </a:pPr>
            <a:r>
              <a:rPr b="1"/>
              <a:t>One spine. Four frameworks. Four exercises. One day.</a:t>
            </a:r>
          </a:p>
          <a:p>
            <a:pPr lvl="0" indent="0" marL="0">
              <a:buNone/>
            </a:pPr>
            <a:r>
              <a:rPr b="1"/>
              <a:t>The spine:</a:t>
            </a:r>
            <a:r>
              <a:rPr/>
              <a:t> The Trust Tool, how much to trust any AI output, on any tool</a:t>
            </a:r>
          </a:p>
          <a:p>
            <a:pPr lvl="0" indent="-342900" marL="342900">
              <a:buAutoNum type="arabicPeriod"/>
            </a:pPr>
            <a:r>
              <a:rPr b="1"/>
              <a:t>Know when</a:t>
            </a:r>
            <a:r>
              <a:rPr/>
              <a:t> to use AI → AI Task Suitability Spectrum</a:t>
            </a:r>
          </a:p>
          <a:p>
            <a:pPr lvl="0" indent="-342900" marL="342900">
              <a:buAutoNum type="arabicPeriod"/>
            </a:pPr>
            <a:r>
              <a:rPr b="1"/>
              <a:t>Know how</a:t>
            </a:r>
            <a:r>
              <a:rPr/>
              <a:t> to brief AI → RTCF Prompt Framework</a:t>
            </a:r>
          </a:p>
          <a:p>
            <a:pPr lvl="0" indent="-342900" marL="342900">
              <a:buAutoNum type="arabicPeriod"/>
            </a:pPr>
            <a:r>
              <a:rPr b="1"/>
              <a:t>Know how</a:t>
            </a:r>
            <a:r>
              <a:rPr/>
              <a:t> to use AI with data → AI-Assisted Analysis Workflow</a:t>
            </a:r>
          </a:p>
          <a:p>
            <a:pPr lvl="0" indent="-342900" marL="342900">
              <a:buAutoNum type="arabicPeriod"/>
            </a:pPr>
            <a:r>
              <a:rPr b="1"/>
              <a:t>Know where</a:t>
            </a:r>
            <a:r>
              <a:rPr/>
              <a:t> AI fits in your work → AI Opportunity Finder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 Actually Is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 Is Good At</a:t>
            </a:r>
          </a:p>
        </p:txBody>
      </p:sp>
      <p:sp>
        <p:nvSpPr>
          <p:cNvPr id="3" name="Content Placeholder 2"/>
          <p:cNvSpPr>
            <a:spLocks noGrp="1"/>
          </p:cNvSpPr>
          <p:nvPr>
            <p:ph idx="1"/>
          </p:nvPr>
        </p:nvSpPr>
        <p:spPr/>
        <p:txBody>
          <a:bodyPr/>
          <a:lstStyle/>
          <a:p>
            <a:pPr lvl="0" indent="0" marL="0">
              <a:buNone/>
            </a:pPr>
            <a:r>
              <a:rPr b="1"/>
              <a:t>Tasks where patterns exist:</a:t>
            </a:r>
          </a:p>
          <a:p>
            <a:pPr lvl="0"/>
            <a:r>
              <a:rPr/>
              <a:t>✅ Drafting and writing (follows language patterns)</a:t>
            </a:r>
          </a:p>
          <a:p>
            <a:pPr lvl="0"/>
            <a:r>
              <a:rPr/>
              <a:t>✅ Summarising documents (identifies key information patterns)</a:t>
            </a:r>
          </a:p>
          <a:p>
            <a:pPr lvl="0"/>
            <a:r>
              <a:rPr/>
              <a:t>✅ Formatting and transforming (structure is pure pattern)</a:t>
            </a:r>
          </a:p>
          <a:p>
            <a:pPr lvl="0"/>
            <a:r>
              <a:rPr/>
              <a:t>✅ Brainstorming (seen enormous variety of ideas)</a:t>
            </a:r>
          </a:p>
          <a:p>
            <a:pPr lvl="0"/>
            <a:r>
              <a:rPr/>
              <a:t>✅ Explaining concepts (thousands of explanations in training data)</a:t>
            </a:r>
          </a:p>
          <a:p>
            <a:pPr lvl="0"/>
            <a:r>
              <a:rPr/>
              <a:t>✅ Finding patterns in data (what it’s literally built to do)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 Is Bad At</a:t>
            </a:r>
          </a:p>
        </p:txBody>
      </p:sp>
      <p:sp>
        <p:nvSpPr>
          <p:cNvPr id="3" name="Content Placeholder 2"/>
          <p:cNvSpPr>
            <a:spLocks noGrp="1"/>
          </p:cNvSpPr>
          <p:nvPr>
            <p:ph idx="1"/>
          </p:nvPr>
        </p:nvSpPr>
        <p:spPr/>
        <p:txBody>
          <a:bodyPr/>
          <a:lstStyle/>
          <a:p>
            <a:pPr lvl="0" indent="0" marL="0">
              <a:buNone/>
            </a:pPr>
            <a:r>
              <a:rPr b="1"/>
              <a:t>Tasks where patterns aren’t enough:</a:t>
            </a:r>
          </a:p>
          <a:p>
            <a:pPr lvl="0"/>
            <a:r>
              <a:rPr/>
              <a:t>❌ Factual accuracy (generates plausible text, not verified truth)</a:t>
            </a:r>
          </a:p>
          <a:p>
            <a:pPr lvl="0"/>
            <a:r>
              <a:rPr/>
              <a:t>❌ Maths and precise calculations (regularly makes arithmetic errors)</a:t>
            </a:r>
          </a:p>
          <a:p>
            <a:pPr lvl="0"/>
            <a:r>
              <a:rPr/>
              <a:t>❌ Logical reasoning (misses contradictions, gets multi-step logic wrong)</a:t>
            </a:r>
          </a:p>
          <a:p>
            <a:pPr lvl="0"/>
            <a:r>
              <a:rPr/>
              <a:t>❌ Understanding YOUR context (doesn’t know your company, team, politics)</a:t>
            </a:r>
          </a:p>
          <a:p>
            <a:pPr lvl="0"/>
            <a:r>
              <a:rPr/>
              <a:t>❌ Ethical judgment (no values, no empathy, no accountability)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“Confident Nonsense” Problem</a:t>
            </a:r>
          </a:p>
        </p:txBody>
      </p:sp>
      <p:sp>
        <p:nvSpPr>
          <p:cNvPr id="3" name="Content Placeholder 2"/>
          <p:cNvSpPr>
            <a:spLocks noGrp="1"/>
          </p:cNvSpPr>
          <p:nvPr>
            <p:ph idx="1"/>
          </p:nvPr>
        </p:nvSpPr>
        <p:spPr/>
        <p:txBody>
          <a:bodyPr/>
          <a:lstStyle/>
          <a:p>
            <a:pPr lvl="0" indent="0" marL="0">
              <a:buNone/>
            </a:pPr>
            <a:r>
              <a:rPr b="1"/>
              <a:t>AI never says “I don’t know.”</a:t>
            </a:r>
          </a:p>
          <a:p>
            <a:pPr lvl="0" indent="0" marL="0">
              <a:buNone/>
            </a:pPr>
            <a:r>
              <a:rPr/>
              <a:t>Ask a colleague → “I’m not sure, let me check”</a:t>
            </a:r>
          </a:p>
          <a:p>
            <a:pPr lvl="0" indent="0" marL="0">
              <a:buNone/>
            </a:pPr>
            <a:r>
              <a:rPr/>
              <a:t>Ask AI → Confident, well-structured, completely wrong answer</a:t>
            </a:r>
          </a:p>
          <a:p>
            <a:pPr lvl="0" indent="0" marL="0">
              <a:buNone/>
            </a:pPr>
            <a:r>
              <a:rPr b="1"/>
              <a:t>This is called hallucination.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Convincing Average</a:t>
            </a:r>
          </a:p>
        </p:txBody>
      </p:sp>
      <p:sp>
        <p:nvSpPr>
          <p:cNvPr id="3" name="Content Placeholder 2"/>
          <p:cNvSpPr>
            <a:spLocks noGrp="1"/>
          </p:cNvSpPr>
          <p:nvPr>
            <p:ph idx="1"/>
          </p:nvPr>
        </p:nvSpPr>
        <p:spPr/>
        <p:txBody>
          <a:bodyPr/>
          <a:lstStyle/>
          <a:p>
            <a:pPr lvl="0" indent="0" marL="0">
              <a:buNone/>
            </a:pPr>
            <a:r>
              <a:rPr b="1"/>
              <a:t>AI produces a convincing average: fluent, well-shaped, usually about right.</a:t>
            </a:r>
          </a:p>
          <a:p>
            <a:pPr lvl="0" indent="0" marL="0">
              <a:buNone/>
            </a:pPr>
            <a:r>
              <a:rPr/>
              <a:t>But “about right” and “exactly right” are not the same, </a:t>
            </a:r>
            <a:r>
              <a:rPr b="1"/>
              <a:t>and knowing which one you need is the whole game.</a:t>
            </a:r>
          </a:p>
          <a:p>
            <a:pPr lvl="0" indent="0" marL="0">
              <a:buNone/>
            </a:pPr>
            <a:r>
              <a:rPr b="1"/>
              <a:t>And here is the trap: weak human work announces itself.</a:t>
            </a:r>
          </a:p>
          <a:p>
            <a:pPr lvl="0" indent="0" marL="0">
              <a:buNone/>
            </a:pPr>
            <a:r>
              <a:rPr/>
              <a:t>A rushed human draft looks rushed. Gaps show. Sloppiness shows.</a:t>
            </a:r>
          </a:p>
          <a:p>
            <a:pPr lvl="0" indent="0" marL="0">
              <a:buNone/>
            </a:pPr>
            <a:r>
              <a:rPr/>
              <a:t>AI’s wrong work announces nothing: polished, complete, confident.</a:t>
            </a:r>
          </a:p>
          <a:p>
            <a:pPr lvl="0" indent="0" marL="0">
              <a:buNone/>
            </a:pPr>
            <a:r>
              <a:rPr b="1"/>
              <a:t>Your inner alarm stays quiet exactly when you need it most.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Trust Tool</a:t>
            </a:r>
          </a:p>
        </p:txBody>
      </p:sp>
      <p:sp>
        <p:nvSpPr>
          <p:cNvPr id="3" name="Content Placeholder 2"/>
          <p:cNvSpPr>
            <a:spLocks noGrp="1"/>
          </p:cNvSpPr>
          <p:nvPr>
            <p:ph idx="1"/>
          </p:nvPr>
        </p:nvSpPr>
        <p:spPr>
          <a:xfrm>
            <a:off x="457200" y="1193800"/>
            <a:ext cx="8229600" cy="2133600"/>
          </a:xfrm>
        </p:spPr>
        <p:txBody>
          <a:bodyPr/>
          <a:lstStyle/>
          <a:p>
            <a:pPr lvl="0" indent="0" marL="0">
              <a:buNone/>
            </a:pPr>
            <a:r>
              <a:rPr b="1"/>
              <a:t>Two questions. Four corners.</a:t>
            </a:r>
          </a:p>
          <a:p>
            <a:pPr lvl="0" indent="0" marL="0">
              <a:buNone/>
            </a:pPr>
            <a:r>
              <a:rPr b="1"/>
              <a:t>Q1: Do you need an AVERAGE, or PRECISION?</a:t>
            </a:r>
          </a:p>
          <a:p>
            <a:pPr lvl="0" indent="0" marL="0">
              <a:buNone/>
            </a:pPr>
            <a:r>
              <a:rPr b="1"/>
              <a:t>Q2: Are the stakes SMALL, or LARGE?</a:t>
            </a:r>
          </a:p>
        </p:txBody>
      </p:sp>
      <p:graphicFrame>
        <p:nvGraphicFramePr>
          <p:cNvPr id="6" name="Content Placeholder 5"/>
          <p:cNvGraphicFramePr>
            <a:graphicFrameLocks noGrp="1"/>
          </p:cNvGraphicFramePr>
          <p:nvPr>
            <p:ph idx="1"/>
          </p:nvPr>
        </p:nvGraphicFramePr>
        <p:xfrm>
          <a:off x="457200" y="3454400"/>
          <a:ext cx="8229600" cy="10033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b="1"/>
                        <a:t>Small (low stakes)</a:t>
                      </a:r>
                    </a:p>
                  </a:txBody>
                  <a:tcPr/>
                </a:tc>
                <a:tc>
                  <a:txBody>
                    <a:bodyPr/>
                    <a:lstStyle/>
                    <a:p>
                      <a:pPr lvl="0" indent="0" marL="0">
                        <a:buNone/>
                      </a:pPr>
                      <a:r>
                        <a:rPr b="1"/>
                        <a:t>Large (high stakes)</a:t>
                      </a:r>
                    </a:p>
                  </a:txBody>
                  <a:tcPr/>
                </a:tc>
              </a:tr>
              <a:tr h="0">
                <a:tc>
                  <a:txBody>
                    <a:bodyPr/>
                    <a:lstStyle/>
                    <a:p>
                      <a:pPr lvl="0" indent="0" marL="0">
                        <a:buNone/>
                      </a:pPr>
                      <a:r>
                        <a:rPr b="1"/>
                        <a:t>Average is fine</a:t>
                      </a:r>
                    </a:p>
                  </a:txBody>
                </a:tc>
                <a:tc>
                  <a:txBody>
                    <a:bodyPr/>
                    <a:lstStyle/>
                    <a:p>
                      <a:pPr lvl="0" indent="0" marL="0">
                        <a:buNone/>
                      </a:pPr>
                      <a:r>
                        <a:rPr b="1"/>
                        <a:t>Lean in.</a:t>
                      </a:r>
                      <a:r>
                        <a:rPr/>
                        <a:t> Let AI run.</a:t>
                      </a:r>
                    </a:p>
                  </a:txBody>
                </a:tc>
                <a:tc>
                  <a:txBody>
                    <a:bodyPr/>
                    <a:lstStyle/>
                    <a:p>
                      <a:pPr lvl="0" indent="0" marL="0">
                        <a:buNone/>
                      </a:pPr>
                      <a:r>
                        <a:rPr b="1"/>
                        <a:t>Lean in, with a glance.</a:t>
                      </a:r>
                      <a:r>
                        <a:rPr/>
                        <a:t> Sanity-check before it goes out.</a:t>
                      </a:r>
                    </a:p>
                  </a:txBody>
                </a:tc>
              </a:tr>
              <a:tr h="0">
                <a:tc>
                  <a:txBody>
                    <a:bodyPr/>
                    <a:lstStyle/>
                    <a:p>
                      <a:pPr lvl="0" indent="0" marL="0">
                        <a:buNone/>
                      </a:pPr>
                      <a:r>
                        <a:rPr b="1"/>
                        <a:t>Precision required</a:t>
                      </a:r>
                    </a:p>
                  </a:txBody>
                </a:tc>
                <a:tc>
                  <a:txBody>
                    <a:bodyPr/>
                    <a:lstStyle/>
                    <a:p>
                      <a:pPr lvl="0" indent="0" marL="0">
                        <a:buNone/>
                      </a:pPr>
                      <a:r>
                        <a:rPr b="1"/>
                        <a:t>Use, then verify.</a:t>
                      </a:r>
                      <a:r>
                        <a:rPr/>
                        <a:t> Confirm the specifics.</a:t>
                      </a:r>
                    </a:p>
                  </a:txBody>
                </a:tc>
                <a:tc>
                  <a:txBody>
                    <a:bodyPr/>
                    <a:lstStyle/>
                    <a:p>
                      <a:pPr lvl="0" indent="0" marL="0">
                        <a:buNone/>
                      </a:pPr>
                      <a:r>
                        <a:rPr b="1"/>
                        <a:t>Human in the loop.</a:t>
                      </a:r>
                      <a:r>
                        <a:rPr/>
                        <a:t> A person owns the decision.</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Framework 1: AI Task Suitability Spectrum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 Zones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Zone</a:t>
                      </a:r>
                    </a:p>
                  </a:txBody>
                  <a:tcPr/>
                </a:tc>
                <a:tc>
                  <a:txBody>
                    <a:bodyPr/>
                    <a:lstStyle/>
                    <a:p>
                      <a:pPr lvl="0" indent="0" marL="0">
                        <a:buNone/>
                      </a:pPr>
                      <a:r>
                        <a:rPr/>
                        <a:t>AI Does</a:t>
                      </a:r>
                    </a:p>
                  </a:txBody>
                  <a:tcPr/>
                </a:tc>
                <a:tc>
                  <a:txBody>
                    <a:bodyPr/>
                    <a:lstStyle/>
                    <a:p>
                      <a:pPr lvl="0" indent="0" marL="0">
                        <a:buNone/>
                      </a:pPr>
                      <a:r>
                        <a:rPr/>
                        <a:t>You Do</a:t>
                      </a:r>
                    </a:p>
                  </a:txBody>
                  <a:tcPr/>
                </a:tc>
              </a:tr>
              <a:tr h="0">
                <a:tc>
                  <a:txBody>
                    <a:bodyPr/>
                    <a:lstStyle/>
                    <a:p>
                      <a:pPr lvl="0" indent="0" marL="0">
                        <a:buNone/>
                      </a:pPr>
                      <a:r>
                        <a:rPr b="1"/>
                        <a:t>AI-Led</a:t>
                      </a:r>
                    </a:p>
                  </a:txBody>
                </a:tc>
                <a:tc>
                  <a:txBody>
                    <a:bodyPr/>
                    <a:lstStyle/>
                    <a:p>
                      <a:pPr lvl="0" indent="0" marL="0">
                        <a:buNone/>
                      </a:pPr>
                      <a:r>
                        <a:rPr/>
                        <a:t>Heavy lifting</a:t>
                      </a:r>
                    </a:p>
                  </a:txBody>
                </a:tc>
                <a:tc>
                  <a:txBody>
                    <a:bodyPr/>
                    <a:lstStyle/>
                    <a:p>
                      <a:pPr lvl="0" indent="0" marL="0">
                        <a:buNone/>
                      </a:pPr>
                      <a:r>
                        <a:rPr/>
                        <a:t>Review and approve</a:t>
                      </a:r>
                    </a:p>
                  </a:txBody>
                </a:tc>
              </a:tr>
              <a:tr h="0">
                <a:tc>
                  <a:txBody>
                    <a:bodyPr/>
                    <a:lstStyle/>
                    <a:p>
                      <a:pPr lvl="0" indent="0" marL="0">
                        <a:buNone/>
                      </a:pPr>
                      <a:r>
                        <a:rPr b="1"/>
                        <a:t>AI-Assisted</a:t>
                      </a:r>
                    </a:p>
                  </a:txBody>
                </a:tc>
                <a:tc>
                  <a:txBody>
                    <a:bodyPr/>
                    <a:lstStyle/>
                    <a:p>
                      <a:pPr lvl="0" indent="0" marL="0">
                        <a:buNone/>
                      </a:pPr>
                      <a:r>
                        <a:rPr/>
                        <a:t>Substantial help</a:t>
                      </a:r>
                    </a:p>
                  </a:txBody>
                </a:tc>
                <a:tc>
                  <a:txBody>
                    <a:bodyPr/>
                    <a:lstStyle/>
                    <a:p>
                      <a:pPr lvl="0" indent="0" marL="0">
                        <a:buNone/>
                      </a:pPr>
                      <a:r>
                        <a:rPr/>
                        <a:t>Guide and verify</a:t>
                      </a:r>
                    </a:p>
                  </a:txBody>
                </a:tc>
              </a:tr>
              <a:tr h="0">
                <a:tc>
                  <a:txBody>
                    <a:bodyPr/>
                    <a:lstStyle/>
                    <a:p>
                      <a:pPr lvl="0" indent="0" marL="0">
                        <a:buNone/>
                      </a:pPr>
                      <a:r>
                        <a:rPr b="1"/>
                        <a:t>Human-Led</a:t>
                      </a:r>
                    </a:p>
                  </a:txBody>
                </a:tc>
                <a:tc>
                  <a:txBody>
                    <a:bodyPr/>
                    <a:lstStyle/>
                    <a:p>
                      <a:pPr lvl="0" indent="0" marL="0">
                        <a:buNone/>
                      </a:pPr>
                      <a:r>
                        <a:rPr/>
                        <a:t>Sub-tasks</a:t>
                      </a:r>
                    </a:p>
                  </a:txBody>
                </a:tc>
                <a:tc>
                  <a:txBody>
                    <a:bodyPr/>
                    <a:lstStyle/>
                    <a:p>
                      <a:pPr lvl="0" indent="0" marL="0">
                        <a:buNone/>
                      </a:pPr>
                      <a:r>
                        <a:rPr/>
                        <a:t>Lead the work</a:t>
                      </a:r>
                    </a:p>
                  </a:txBody>
                </a:tc>
              </a:tr>
              <a:tr h="0">
                <a:tc>
                  <a:txBody>
                    <a:bodyPr/>
                    <a:lstStyle/>
                    <a:p>
                      <a:pPr lvl="0" indent="0" marL="0">
                        <a:buNone/>
                      </a:pPr>
                      <a:r>
                        <a:rPr b="1"/>
                        <a:t>Human-Only</a:t>
                      </a:r>
                    </a:p>
                  </a:txBody>
                </a:tc>
                <a:tc>
                  <a:txBody>
                    <a:bodyPr/>
                    <a:lstStyle/>
                    <a:p>
                      <a:pPr lvl="0" indent="0" marL="0">
                        <a:buNone/>
                      </a:pPr>
                      <a:r>
                        <a:rPr/>
                        <a:t>Nothing</a:t>
                      </a:r>
                    </a:p>
                  </a:txBody>
                </a:tc>
                <a:tc>
                  <a:txBody>
                    <a:bodyPr/>
                    <a:lstStyle/>
                    <a:p>
                      <a:pPr lvl="0" indent="0" marL="0">
                        <a:buNone/>
                      </a:pPr>
                      <a:r>
                        <a:rPr/>
                        <a:t>Full ownership</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 AI Tool Test Drive</a:t>
            </a:r>
          </a:p>
        </p:txBody>
      </p:sp>
      <p:sp>
        <p:nvSpPr>
          <p:cNvPr id="3" name="Content Placeholder 2"/>
          <p:cNvSpPr>
            <a:spLocks noGrp="1"/>
          </p:cNvSpPr>
          <p:nvPr>
            <p:ph idx="1"/>
          </p:nvPr>
        </p:nvSpPr>
        <p:spPr/>
        <p:txBody>
          <a:bodyPr/>
          <a:lstStyle/>
          <a:p>
            <a:pPr lvl="0" indent="0" marL="0">
              <a:buNone/>
            </a:pPr>
          </a:p>
          <a:p>
            <a:pPr lvl="0" indent="0" marL="0">
              <a:buNone/>
            </a:pPr>
            <a:r>
              <a:rPr b="1"/>
              <a:t>Same task. Three tools. Compare the results.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Did You Find?</a:t>
            </a:r>
          </a:p>
        </p:txBody>
      </p:sp>
      <p:sp>
        <p:nvSpPr>
          <p:cNvPr id="3" name="Content Placeholder 2"/>
          <p:cNvSpPr>
            <a:spLocks noGrp="1"/>
          </p:cNvSpPr>
          <p:nvPr>
            <p:ph idx="1"/>
          </p:nvPr>
        </p:nvSpPr>
        <p:spPr/>
        <p:txBody>
          <a:bodyPr/>
          <a:lstStyle/>
          <a:p>
            <a:pPr lvl="0" indent="0" marL="0">
              <a:buNone/>
            </a:pPr>
            <a:r>
              <a:rPr b="1"/>
              <a:t>Three questions:</a:t>
            </a:r>
          </a:p>
          <a:p>
            <a:pPr lvl="0" indent="-342900" marL="342900">
              <a:buAutoNum type="arabicPeriod"/>
            </a:pPr>
            <a:r>
              <a:rPr/>
              <a:t>What surprised you about the differences?</a:t>
            </a:r>
          </a:p>
          <a:p>
            <a:pPr lvl="0" indent="-342900" marL="342900">
              <a:buAutoNum type="arabicPeriod"/>
            </a:pPr>
            <a:r>
              <a:rPr/>
              <a:t>Did any tool give bad advice?</a:t>
            </a:r>
          </a:p>
          <a:p>
            <a:pPr lvl="0" indent="-342900" marL="342900">
              <a:buAutoNum type="arabicPeriod"/>
            </a:pPr>
            <a:r>
              <a:rPr/>
              <a:t>Which response would you actually use?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Art of Effective Prompting</a:t>
            </a:r>
          </a:p>
        </p:txBody>
      </p:sp>
      <p:sp>
        <p:nvSpPr>
          <p:cNvPr id="3" name="Content Placeholder 2"/>
          <p:cNvSpPr>
            <a:spLocks noGrp="1"/>
          </p:cNvSpPr>
          <p:nvPr>
            <p:ph idx="1"/>
          </p:nvPr>
        </p:nvSpPr>
        <p:spPr/>
        <p:txBody>
          <a:bodyPr/>
          <a:lstStyle/>
          <a:p>
            <a:pPr lvl="0" indent="0" marL="0">
              <a:buNone/>
            </a:pPr>
          </a:p>
          <a:p>
            <a:pPr lvl="0" indent="0" marL="0">
              <a:buNone/>
            </a:pPr>
            <a:r>
              <a:rPr b="1"/>
              <a:t>Conversation, not delegation: brief it like a capable junior colleague.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Framework 2: RTCF Prompt Framework</a:t>
            </a:r>
          </a:p>
        </p:txBody>
      </p:sp>
      <p:sp>
        <p:nvSpPr>
          <p:cNvPr id="3" name="Content Placeholder 2"/>
          <p:cNvSpPr>
            <a:spLocks noGrp="1"/>
          </p:cNvSpPr>
          <p:nvPr>
            <p:ph idx="1"/>
          </p:nvPr>
        </p:nvSpPr>
        <p:spPr/>
        <p:txBody>
          <a:bodyPr/>
          <a:lstStyle/>
          <a:p>
            <a:pPr lvl="0" indent="0" marL="0">
              <a:buNone/>
            </a:pPr>
            <a:r>
              <a:rPr b="1"/>
              <a:t>The briefing structure:</a:t>
            </a:r>
          </a:p>
          <a:p>
            <a:pPr lvl="0" indent="0" marL="0">
              <a:buNone/>
            </a:pPr>
            <a:r>
              <a:rPr b="1"/>
              <a:t>R</a:t>
            </a:r>
            <a:r>
              <a:rPr/>
              <a:t>: Role (Who should the AI be?)</a:t>
            </a:r>
          </a:p>
          <a:p>
            <a:pPr lvl="0" indent="0" marL="0">
              <a:buNone/>
            </a:pPr>
            <a:r>
              <a:rPr b="1"/>
              <a:t>T</a:t>
            </a:r>
            <a:r>
              <a:rPr/>
              <a:t>: Task (What exactly should it do?)</a:t>
            </a:r>
          </a:p>
          <a:p>
            <a:pPr lvl="0" indent="0" marL="0">
              <a:buNone/>
            </a:pPr>
            <a:r>
              <a:rPr b="1"/>
              <a:t>C</a:t>
            </a:r>
            <a:r>
              <a:rPr/>
              <a:t>: Context (What does it need to know?, </a:t>
            </a:r>
            <a:r>
              <a:rPr i="1"/>
              <a:t>the grounding only you can supply</a:t>
            </a:r>
            <a:r>
              <a:rPr/>
              <a:t>)</a:t>
            </a:r>
          </a:p>
          <a:p>
            <a:pPr lvl="0" indent="0" marL="0">
              <a:buNone/>
            </a:pPr>
            <a:r>
              <a:rPr b="1"/>
              <a:t>F</a:t>
            </a:r>
            <a:r>
              <a:rPr/>
              <a:t>: Format (How should the output look?)</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and After</a:t>
            </a:r>
          </a:p>
        </p:txBody>
      </p:sp>
      <p:sp>
        <p:nvSpPr>
          <p:cNvPr id="3" name="Content Placeholder 2"/>
          <p:cNvSpPr>
            <a:spLocks noGrp="1"/>
          </p:cNvSpPr>
          <p:nvPr>
            <p:ph idx="1"/>
          </p:nvPr>
        </p:nvSpPr>
        <p:spPr/>
        <p:txBody>
          <a:bodyPr/>
          <a:lstStyle/>
          <a:p>
            <a:pPr lvl="0" indent="0" marL="0">
              <a:buNone/>
            </a:pPr>
            <a:r>
              <a:rPr b="1"/>
              <a:t>Without RTCF:</a:t>
            </a:r>
            <a:r>
              <a:rPr/>
              <a:t> &gt; “Write an email about the project delay”</a:t>
            </a:r>
          </a:p>
          <a:p>
            <a:pPr lvl="0" indent="0" marL="0">
              <a:buNone/>
            </a:pPr>
            <a:r>
              <a:rPr b="1"/>
              <a:t>With RTCF:</a:t>
            </a:r>
            <a:r>
              <a:rPr/>
              <a:t> &gt; </a:t>
            </a:r>
            <a:r>
              <a:rPr b="1"/>
              <a:t>Role:</a:t>
            </a:r>
            <a:r>
              <a:rPr/>
              <a:t> Senior project manager, professional and empathetic &gt; &gt; </a:t>
            </a:r>
            <a:r>
              <a:rPr b="1"/>
              <a:t>Task:</a:t>
            </a:r>
            <a:r>
              <a:rPr/>
              <a:t> Write a client email explaining a 2-week delivery delay &gt; &gt; </a:t>
            </a:r>
            <a:r>
              <a:rPr b="1"/>
              <a:t>Context:</a:t>
            </a:r>
            <a:r>
              <a:rPr/>
              <a:t> Delay caused by vendor API integration. Client is understanding but values transparency. New delivery date March 15. &gt; &gt; </a:t>
            </a:r>
            <a:r>
              <a:rPr b="1"/>
              <a:t>Format:</a:t>
            </a:r>
            <a:r>
              <a:rPr/>
              <a:t> Under 200 words. Acknowledge → Explain → New date → Recommit.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RTCF Quick Reference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3238500"/>
                <a:gridCol w="2247900"/>
              </a:tblGrid>
              <a:tr h="0">
                <a:tc>
                  <a:txBody>
                    <a:bodyPr/>
                    <a:lstStyle/>
                    <a:p>
                      <a:pPr lvl="0" indent="0" marL="0">
                        <a:buNone/>
                      </a:pPr>
                      <a:r>
                        <a:rPr/>
                        <a:t>Component</a:t>
                      </a:r>
                    </a:p>
                  </a:txBody>
                  <a:tcPr/>
                </a:tc>
                <a:tc>
                  <a:txBody>
                    <a:bodyPr/>
                    <a:lstStyle/>
                    <a:p>
                      <a:pPr lvl="0" indent="0" marL="0">
                        <a:buNone/>
                      </a:pPr>
                      <a:r>
                        <a:rPr/>
                        <a:t>Ask Yourself</a:t>
                      </a:r>
                    </a:p>
                  </a:txBody>
                  <a:tcPr/>
                </a:tc>
                <a:tc>
                  <a:txBody>
                    <a:bodyPr/>
                    <a:lstStyle/>
                    <a:p>
                      <a:pPr lvl="0" indent="0" marL="0">
                        <a:buNone/>
                      </a:pPr>
                      <a:r>
                        <a:rPr/>
                        <a:t>Example</a:t>
                      </a:r>
                    </a:p>
                  </a:txBody>
                  <a:tcPr/>
                </a:tc>
              </a:tr>
              <a:tr h="0">
                <a:tc>
                  <a:txBody>
                    <a:bodyPr/>
                    <a:lstStyle/>
                    <a:p>
                      <a:pPr lvl="0" indent="0" marL="0">
                        <a:buNone/>
                      </a:pPr>
                      <a:r>
                        <a:rPr b="1"/>
                        <a:t>Role</a:t>
                      </a:r>
                    </a:p>
                  </a:txBody>
                </a:tc>
                <a:tc>
                  <a:txBody>
                    <a:bodyPr/>
                    <a:lstStyle/>
                    <a:p>
                      <a:pPr lvl="0" indent="0" marL="0">
                        <a:buNone/>
                      </a:pPr>
                      <a:r>
                        <a:rPr/>
                        <a:t>Who should the AI be?</a:t>
                      </a:r>
                    </a:p>
                  </a:txBody>
                </a:tc>
                <a:tc>
                  <a:txBody>
                    <a:bodyPr/>
                    <a:lstStyle/>
                    <a:p>
                      <a:pPr lvl="0" indent="0" marL="0">
                        <a:buNone/>
                      </a:pPr>
                      <a:r>
                        <a:rPr/>
                        <a:t>“Senior financial analyst”</a:t>
                      </a:r>
                    </a:p>
                  </a:txBody>
                </a:tc>
              </a:tr>
              <a:tr h="0">
                <a:tc>
                  <a:txBody>
                    <a:bodyPr/>
                    <a:lstStyle/>
                    <a:p>
                      <a:pPr lvl="0" indent="0" marL="0">
                        <a:buNone/>
                      </a:pPr>
                      <a:r>
                        <a:rPr b="1"/>
                        <a:t>Task</a:t>
                      </a:r>
                    </a:p>
                  </a:txBody>
                </a:tc>
                <a:tc>
                  <a:txBody>
                    <a:bodyPr/>
                    <a:lstStyle/>
                    <a:p>
                      <a:pPr lvl="0" indent="0" marL="0">
                        <a:buNone/>
                      </a:pPr>
                      <a:r>
                        <a:rPr/>
                        <a:t>What exactly should it do?</a:t>
                      </a:r>
                    </a:p>
                  </a:txBody>
                </a:tc>
                <a:tc>
                  <a:txBody>
                    <a:bodyPr/>
                    <a:lstStyle/>
                    <a:p>
                      <a:pPr lvl="0" indent="0" marL="0">
                        <a:buNone/>
                      </a:pPr>
                      <a:r>
                        <a:rPr/>
                        <a:t>“Create a variance analysis”</a:t>
                      </a:r>
                    </a:p>
                  </a:txBody>
                </a:tc>
              </a:tr>
              <a:tr h="0">
                <a:tc>
                  <a:txBody>
                    <a:bodyPr/>
                    <a:lstStyle/>
                    <a:p>
                      <a:pPr lvl="0" indent="0" marL="0">
                        <a:buNone/>
                      </a:pPr>
                      <a:r>
                        <a:rPr b="1"/>
                        <a:t>Context</a:t>
                      </a:r>
                    </a:p>
                  </a:txBody>
                </a:tc>
                <a:tc>
                  <a:txBody>
                    <a:bodyPr/>
                    <a:lstStyle/>
                    <a:p>
                      <a:pPr lvl="0" indent="0" marL="0">
                        <a:buNone/>
                      </a:pPr>
                      <a:r>
                        <a:rPr/>
                        <a:t>What does it need to know?</a:t>
                      </a:r>
                    </a:p>
                  </a:txBody>
                </a:tc>
                <a:tc>
                  <a:txBody>
                    <a:bodyPr/>
                    <a:lstStyle/>
                    <a:p>
                      <a:pPr lvl="0" indent="0" marL="0">
                        <a:buNone/>
                      </a:pPr>
                      <a:r>
                        <a:rPr/>
                        <a:t>“For the CFO, 2-minute summary”</a:t>
                      </a:r>
                    </a:p>
                  </a:txBody>
                </a:tc>
              </a:tr>
              <a:tr h="0">
                <a:tc>
                  <a:txBody>
                    <a:bodyPr/>
                    <a:lstStyle/>
                    <a:p>
                      <a:pPr lvl="0" indent="0" marL="0">
                        <a:buNone/>
                      </a:pPr>
                      <a:r>
                        <a:rPr b="1"/>
                        <a:t>Format</a:t>
                      </a:r>
                    </a:p>
                  </a:txBody>
                </a:tc>
                <a:tc>
                  <a:txBody>
                    <a:bodyPr/>
                    <a:lstStyle/>
                    <a:p>
                      <a:pPr lvl="0" indent="0" marL="0">
                        <a:buNone/>
                      </a:pPr>
                      <a:r>
                        <a:rPr/>
                        <a:t>How should the output look?</a:t>
                      </a:r>
                    </a:p>
                  </a:txBody>
                </a:tc>
                <a:tc>
                  <a:txBody>
                    <a:bodyPr/>
                    <a:lstStyle/>
                    <a:p>
                      <a:pPr lvl="0" indent="0" marL="0">
                        <a:buNone/>
                      </a:pPr>
                      <a:r>
                        <a:rPr/>
                        <a:t>“Table: Category, Variance, Explanation”</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2: Prompt Engineering Workshop</a:t>
            </a:r>
          </a:p>
        </p:txBody>
      </p:sp>
      <p:sp>
        <p:nvSpPr>
          <p:cNvPr id="3" name="Content Placeholder 2"/>
          <p:cNvSpPr>
            <a:spLocks noGrp="1"/>
          </p:cNvSpPr>
          <p:nvPr>
            <p:ph idx="1"/>
          </p:nvPr>
        </p:nvSpPr>
        <p:spPr/>
        <p:txBody>
          <a:bodyPr/>
          <a:lstStyle/>
          <a:p>
            <a:pPr lvl="0" indent="0" marL="0">
              <a:buNone/>
            </a:pPr>
          </a:p>
          <a:p>
            <a:pPr lvl="0" indent="0" marL="0">
              <a:buNone/>
            </a:pPr>
            <a:r>
              <a:rPr b="1"/>
              <a:t>Three rounds. Same scenarios. Better prompts.</a:t>
            </a:r>
          </a:p>
          <a:p>
            <a:pPr lvl="0"/>
            <a:r>
              <a:rPr b="1"/>
              <a:t>Round 1 (15 min):</a:t>
            </a:r>
            <a:r>
              <a:rPr/>
              <a:t> Write a natural prompt. See what you get.</a:t>
            </a:r>
          </a:p>
          <a:p>
            <a:pPr lvl="0"/>
            <a:r>
              <a:rPr b="1"/>
              <a:t>Round 2 (20 min):</a:t>
            </a:r>
            <a:r>
              <a:rPr/>
              <a:t> Apply RTCF. Compare the improvement.</a:t>
            </a:r>
          </a:p>
          <a:p>
            <a:pPr lvl="0"/>
            <a:r>
              <a:rPr b="1"/>
              <a:t>Round 3 (15 min):</a:t>
            </a:r>
            <a:r>
              <a:rPr/>
              <a:t> Advanced techniques: chain-of-thought, multiple versions, self-critique, fact-gated pushback</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Engineering: Key Lessons</a:t>
            </a:r>
          </a:p>
        </p:txBody>
      </p:sp>
      <p:sp>
        <p:nvSpPr>
          <p:cNvPr id="3" name="Content Placeholder 2"/>
          <p:cNvSpPr>
            <a:spLocks noGrp="1"/>
          </p:cNvSpPr>
          <p:nvPr>
            <p:ph idx="1"/>
          </p:nvPr>
        </p:nvSpPr>
        <p:spPr/>
        <p:txBody>
          <a:bodyPr/>
          <a:lstStyle/>
          <a:p>
            <a:pPr lvl="0" indent="0" marL="0">
              <a:buNone/>
            </a:pPr>
            <a:r>
              <a:rPr b="1"/>
              <a:t>What you just experienced:</a:t>
            </a:r>
          </a:p>
          <a:p>
            <a:pPr lvl="0" indent="-342900" marL="342900">
              <a:buAutoNum type="arabicPeriod"/>
            </a:pPr>
            <a:r>
              <a:rPr b="1"/>
              <a:t>Specificity wins</a:t>
            </a:r>
            <a:r>
              <a:rPr/>
              <a:t>: vague prompts produce generic output</a:t>
            </a:r>
          </a:p>
          <a:p>
            <a:pPr lvl="0" indent="-342900" marL="342900">
              <a:buAutoNum type="arabicPeriod"/>
            </a:pPr>
            <a:r>
              <a:rPr b="1"/>
              <a:t>Context is king</a:t>
            </a:r>
            <a:r>
              <a:rPr/>
              <a:t>: the AI doesn’t know what you don’t tell it</a:t>
            </a:r>
          </a:p>
          <a:p>
            <a:pPr lvl="0" indent="-342900" marL="342900">
              <a:buAutoNum type="arabicPeriod"/>
            </a:pPr>
            <a:r>
              <a:rPr b="1"/>
              <a:t>Format saves time</a:t>
            </a:r>
            <a:r>
              <a:rPr/>
              <a:t>: specify output structure and paste directly</a:t>
            </a:r>
          </a:p>
          <a:p>
            <a:pPr lvl="0" indent="-342900" marL="342900">
              <a:buAutoNum type="arabicPeriod"/>
            </a:pPr>
            <a:r>
              <a:rPr b="1"/>
              <a:t>Iteration beats perfection</a:t>
            </a:r>
            <a:r>
              <a:rPr/>
              <a:t>: treat first output as a draft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AI for Data Work</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Framework 3: AI-Assisted Analysis Workflow</a:t>
            </a:r>
          </a:p>
        </p:txBody>
      </p:sp>
      <p:sp>
        <p:nvSpPr>
          <p:cNvPr id="3" name="Content Placeholder 2"/>
          <p:cNvSpPr>
            <a:spLocks noGrp="1"/>
          </p:cNvSpPr>
          <p:nvPr>
            <p:ph idx="1"/>
          </p:nvPr>
        </p:nvSpPr>
        <p:spPr/>
        <p:txBody>
          <a:bodyPr/>
          <a:lstStyle/>
          <a:p>
            <a:pPr lvl="0" indent="0" marL="0">
              <a:buNone/>
            </a:pPr>
            <a:r>
              <a:rPr b="1"/>
              <a:t>Six steps:</a:t>
            </a:r>
          </a:p>
          <a:p>
            <a:pPr lvl="0" indent="0" marL="0">
              <a:buNone/>
            </a:pPr>
            <a:r>
              <a:rPr b="1"/>
              <a:t>Prepare</a:t>
            </a:r>
            <a:r>
              <a:rPr/>
              <a:t> → Define the question first</a:t>
            </a:r>
          </a:p>
          <a:p>
            <a:pPr lvl="0" indent="0" marL="0">
              <a:buNone/>
            </a:pPr>
            <a:r>
              <a:rPr b="1"/>
              <a:t>Upload</a:t>
            </a:r>
            <a:r>
              <a:rPr/>
              <a:t> → Get data into the AI tool</a:t>
            </a:r>
          </a:p>
          <a:p>
            <a:pPr lvl="0" indent="0" marL="0">
              <a:buNone/>
            </a:pPr>
            <a:r>
              <a:rPr b="1"/>
              <a:t>Question</a:t>
            </a:r>
            <a:r>
              <a:rPr/>
              <a:t> → Ask progressively deeper questions</a:t>
            </a:r>
          </a:p>
          <a:p>
            <a:pPr lvl="0" indent="0" marL="0">
              <a:buNone/>
            </a:pPr>
            <a:r>
              <a:rPr b="1"/>
              <a:t>Verify</a:t>
            </a:r>
            <a:r>
              <a:rPr/>
              <a:t> → Cross-check findings against what you know</a:t>
            </a:r>
          </a:p>
          <a:p>
            <a:pPr lvl="0" indent="0" marL="0">
              <a:buNone/>
            </a:pPr>
            <a:r>
              <a:rPr b="1"/>
              <a:t>Refine</a:t>
            </a:r>
            <a:r>
              <a:rPr/>
              <a:t> → Iterate based on results</a:t>
            </a:r>
          </a:p>
          <a:p>
            <a:pPr lvl="0" indent="0" marL="0">
              <a:buNone/>
            </a:pPr>
            <a:r>
              <a:rPr b="1"/>
              <a:t>Present</a:t>
            </a:r>
            <a:r>
              <a:rPr/>
              <a:t> → Format for your audience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Verification Step</a:t>
            </a:r>
          </a:p>
        </p:txBody>
      </p:sp>
      <p:sp>
        <p:nvSpPr>
          <p:cNvPr id="3" name="Content Placeholder 2"/>
          <p:cNvSpPr>
            <a:spLocks noGrp="1"/>
          </p:cNvSpPr>
          <p:nvPr>
            <p:ph idx="1"/>
          </p:nvPr>
        </p:nvSpPr>
        <p:spPr/>
        <p:txBody>
          <a:bodyPr/>
          <a:lstStyle/>
          <a:p>
            <a:pPr lvl="0" indent="0" marL="0">
              <a:buNone/>
            </a:pPr>
            <a:r>
              <a:rPr b="1"/>
              <a:t>If a finding would change a decision, verify it, from outside the tool.</a:t>
            </a:r>
          </a:p>
          <a:p>
            <a:pPr lvl="0" indent="0" marL="0">
              <a:buNone/>
            </a:pPr>
            <a:r>
              <a:rPr/>
              <a:t>Asking the AI to check its own work doesn’t count. The check is yours.</a:t>
            </a:r>
          </a:p>
          <a:p>
            <a:pPr lvl="0" indent="0" marL="0">
              <a:buNone/>
            </a:pPr>
            <a:r>
              <a:rPr/>
              <a:t>AI analysis errors to watch for:</a:t>
            </a:r>
          </a:p>
          <a:p>
            <a:pPr lvl="0"/>
            <a:r>
              <a:rPr/>
              <a:t>Miscounting rows (especially with filtered data)</a:t>
            </a:r>
          </a:p>
          <a:p>
            <a:pPr lvl="0"/>
            <a:r>
              <a:rPr/>
              <a:t>Confusing correlation with causation</a:t>
            </a:r>
          </a:p>
          <a:p>
            <a:pPr lvl="0"/>
            <a:r>
              <a:rPr/>
              <a:t>Ignoring missing data without flagging it</a:t>
            </a:r>
          </a:p>
          <a:p>
            <a:pPr lvl="0"/>
            <a:r>
              <a:rPr/>
              <a:t>Producing mathematically impossible results</a:t>
            </a:r>
          </a:p>
          <a:p>
            <a:pPr lvl="0"/>
            <a:r>
              <a:rPr b="1"/>
              <a:t>Inventing data points that aren’t in the source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3: Data Analysis Challenge</a:t>
            </a:r>
          </a:p>
        </p:txBody>
      </p:sp>
      <p:sp>
        <p:nvSpPr>
          <p:cNvPr id="3" name="Content Placeholder 2"/>
          <p:cNvSpPr>
            <a:spLocks noGrp="1"/>
          </p:cNvSpPr>
          <p:nvPr>
            <p:ph idx="1"/>
          </p:nvPr>
        </p:nvSpPr>
        <p:spPr/>
        <p:txBody>
          <a:bodyPr/>
          <a:lstStyle/>
          <a:p>
            <a:pPr lvl="0" indent="0" marL="0">
              <a:buNone/>
            </a:pPr>
          </a:p>
          <a:p>
            <a:pPr lvl="0" indent="0" marL="0">
              <a:buNone/>
            </a:pPr>
            <a:r>
              <a:rPr b="1"/>
              <a:t>260 customer service tickets. 3 business questions. AI-assisted analysis.</a:t>
            </a:r>
          </a:p>
          <a:p>
            <a:pPr lvl="0" indent="-342900" marL="342900">
              <a:buAutoNum type="arabicPeriod"/>
            </a:pPr>
            <a:r>
              <a:rPr/>
              <a:t>What are the top 3 drivers of customer dissatisfaction?</a:t>
            </a:r>
          </a:p>
          <a:p>
            <a:pPr lvl="0" indent="-342900" marL="342900">
              <a:buAutoNum type="arabicPeriod"/>
            </a:pPr>
            <a:r>
              <a:rPr/>
              <a:t>Are there patterns in when response times blow out?</a:t>
            </a:r>
          </a:p>
          <a:p>
            <a:pPr lvl="0" indent="-342900" marL="342900">
              <a:buAutoNum type="arabicPeriod"/>
            </a:pPr>
            <a:r>
              <a:rPr/>
              <a:t>What would you recommend to the customer service manager?</a:t>
            </a:r>
          </a:p>
          <a:p>
            <a:pPr lvl="0" indent="0" marL="0">
              <a:buNone/>
            </a:pPr>
            <a:r>
              <a:rPr b="1"/>
              <a:t>Then: the Verification Challenge, three claims about this data. At least one is wrong.</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Data Told Us</a:t>
            </a:r>
          </a:p>
        </p:txBody>
      </p:sp>
      <p:sp>
        <p:nvSpPr>
          <p:cNvPr id="3" name="Content Placeholder 2"/>
          <p:cNvSpPr>
            <a:spLocks noGrp="1"/>
          </p:cNvSpPr>
          <p:nvPr>
            <p:ph idx="1"/>
          </p:nvPr>
        </p:nvSpPr>
        <p:spPr>
          <a:xfrm>
            <a:off x="457200" y="1193800"/>
            <a:ext cx="8229600" cy="2590800"/>
          </a:xfrm>
        </p:spPr>
        <p:txBody>
          <a:bodyPr/>
          <a:lstStyle/>
          <a:p>
            <a:pPr lvl="0" indent="0" marL="0">
              <a:buNone/>
            </a:pPr>
            <a:r>
              <a:rPr b="1"/>
              <a:t>Key patterns you should have found:</a:t>
            </a:r>
          </a:p>
          <a:p>
            <a:pPr lvl="0"/>
            <a:r>
              <a:rPr/>
              <a:t>Returns &amp; Refunds: lowest satisfaction by far</a:t>
            </a:r>
          </a:p>
          <a:p>
            <a:pPr lvl="0"/>
            <a:r>
              <a:rPr/>
              <a:t>Delivery Problems: second worst</a:t>
            </a:r>
          </a:p>
          <a:p>
            <a:pPr lvl="0"/>
            <a:r>
              <a:rPr/>
              <a:t>Response time is a cross-cutting driver</a:t>
            </a:r>
          </a:p>
          <a:p>
            <a:pPr lvl="0"/>
            <a:r>
              <a:rPr/>
              <a:t>Sundays and Mondays: response times blow out</a:t>
            </a:r>
          </a:p>
          <a:p>
            <a:pPr lvl="0"/>
            <a:r>
              <a:rPr/>
              <a:t>December: holiday rush, no extra capacity</a:t>
            </a:r>
          </a:p>
          <a:p>
            <a:pPr lvl="0"/>
            <a:r>
              <a:rPr/>
              <a:t>Email: 3x slower than Live Chat</a:t>
            </a:r>
          </a:p>
          <a:p>
            <a:pPr lvl="0" indent="0" marL="0">
              <a:buNone/>
            </a:pPr>
            <a:r>
              <a:rPr b="1"/>
              <a:t>The Verification Challenge verdicts:</a:t>
            </a:r>
          </a:p>
        </p:txBody>
      </p:sp>
      <p:graphicFrame>
        <p:nvGraphicFramePr>
          <p:cNvPr id="6" name="Content Placeholder 5"/>
          <p:cNvGraphicFramePr>
            <a:graphicFrameLocks noGrp="1"/>
          </p:cNvGraphicFramePr>
          <p:nvPr>
            <p:ph idx="1"/>
          </p:nvPr>
        </p:nvGraphicFramePr>
        <p:xfrm>
          <a:off x="457200" y="3911600"/>
          <a:ext cx="8229600" cy="546100"/>
        </p:xfrm>
        <a:graphic>
          <a:graphicData uri="http://schemas.openxmlformats.org/drawingml/2006/table">
            <a:tbl>
              <a:tblPr firstRow="1" bandRow="1">
                <a:tableStyleId>{5C22544A-7EE6-4342-B048-85BDC9FD1C3A}</a:tableStyleId>
              </a:tblPr>
              <a:tblGrid>
                <a:gridCol w="3606800"/>
                <a:gridCol w="4622800"/>
              </a:tblGrid>
              <a:tr h="0">
                <a:tc>
                  <a:txBody>
                    <a:bodyPr/>
                    <a:lstStyle/>
                    <a:p>
                      <a:pPr lvl="0" indent="0" marL="0">
                        <a:buNone/>
                      </a:pPr>
                      <a:r>
                        <a:rPr/>
                        <a:t>Claim</a:t>
                      </a:r>
                    </a:p>
                  </a:txBody>
                  <a:tcPr/>
                </a:tc>
                <a:tc>
                  <a:txBody>
                    <a:bodyPr/>
                    <a:lstStyle/>
                    <a:p>
                      <a:pPr lvl="0" indent="0" marL="0">
                        <a:buNone/>
                      </a:pPr>
                      <a:r>
                        <a:rPr/>
                        <a:t>Verdict</a:t>
                      </a:r>
                    </a:p>
                  </a:txBody>
                  <a:tcPr/>
                </a:tc>
              </a:tr>
              <a:tr h="0">
                <a:tc>
                  <a:txBody>
                    <a:bodyPr/>
                    <a:lstStyle/>
                    <a:p>
                      <a:pPr lvl="0" indent="0" marL="0">
                        <a:buNone/>
                      </a:pPr>
                      <a:r>
                        <a:rPr/>
                        <a:t>“Email ~3x slower than Live Chat”</a:t>
                      </a:r>
                    </a:p>
                  </a:txBody>
                </a:tc>
                <a:tc>
                  <a:txBody>
                    <a:bodyPr/>
                    <a:lstStyle/>
                    <a:p>
                      <a:pPr lvl="0" indent="0" marL="0">
                        <a:buNone/>
                      </a:pPr>
                      <a:r>
                        <a:rPr/>
                        <a:t>✅ Verified</a:t>
                      </a:r>
                    </a:p>
                  </a:txBody>
                </a:tc>
              </a:tr>
              <a:tr h="0">
                <a:tc>
                  <a:txBody>
                    <a:bodyPr/>
                    <a:lstStyle/>
                    <a:p>
                      <a:pPr lvl="0" indent="0" marL="0">
                        <a:buNone/>
                      </a:pPr>
                      <a:r>
                        <a:rPr/>
                        <a:t>“Account Issues: lowest satisfaction, most complex”</a:t>
                      </a:r>
                    </a:p>
                  </a:txBody>
                </a:tc>
                <a:tc>
                  <a:txBody>
                    <a:bodyPr/>
                    <a:lstStyle/>
                    <a:p>
                      <a:pPr lvl="0" indent="0" marL="0">
                        <a:buNone/>
                      </a:pPr>
                      <a:r>
                        <a:rPr/>
                        <a:t>❌ Refuted, twice</a:t>
                      </a:r>
                    </a:p>
                  </a:txBody>
                </a:tc>
              </a:tr>
              <a:tr h="0">
                <a:tc>
                  <a:txBody>
                    <a:bodyPr/>
                    <a:lstStyle/>
                    <a:p>
                      <a:pPr lvl="0" indent="0" marL="0">
                        <a:buNone/>
                      </a:pPr>
                      <a:r>
                        <a:rPr/>
                        <a:t>“Sundays: more than double the average”</a:t>
                      </a:r>
                    </a:p>
                  </a:txBody>
                </a:tc>
                <a:tc>
                  <a:txBody>
                    <a:bodyPr/>
                    <a:lstStyle/>
                    <a:p>
                      <a:pPr lvl="0" indent="0" marL="0">
                        <a:buNone/>
                      </a:pPr>
                      <a:r>
                        <a:rPr/>
                        <a:t>⚠️ Overstated (~1.5x, not 2x)</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Beyond Chat</a:t>
            </a:r>
          </a:p>
        </p:txBody>
      </p:sp>
      <p:sp>
        <p:nvSpPr>
          <p:cNvPr id="3" name="Content Placeholder 2"/>
          <p:cNvSpPr>
            <a:spLocks noGrp="1"/>
          </p:cNvSpPr>
          <p:nvPr>
            <p:ph idx="1"/>
          </p:nvPr>
        </p:nvSpPr>
        <p:spPr/>
        <p:txBody>
          <a:bodyPr/>
          <a:lstStyle/>
          <a:p>
            <a:pPr lvl="0" indent="0" marL="0">
              <a:buNone/>
            </a:pPr>
          </a:p>
          <a:p>
            <a:pPr lvl="0" indent="0" marL="0">
              <a:buNone/>
            </a:pPr>
            <a:r>
              <a:rPr b="1"/>
              <a:t>AI is moving from “a tool you go to” to “a capability in every tool you use.”</a:t>
            </a:r>
          </a:p>
          <a:p>
            <a:pPr lvl="0"/>
            <a:r>
              <a:rPr/>
              <a:t>Microsoft 365 Copilot, in Word, Excel, PowerPoint, Outlook</a:t>
            </a:r>
          </a:p>
          <a:p>
            <a:pPr lvl="0"/>
            <a:r>
              <a:rPr/>
              <a:t>Google Workspace AI, in Docs, Sheets, Gmail</a:t>
            </a:r>
          </a:p>
          <a:p>
            <a:pPr lvl="0"/>
            <a:r>
              <a:rPr/>
              <a:t>Automation platforms, Zapier, Make, Power Automate</a:t>
            </a:r>
          </a:p>
          <a:p>
            <a:pPr lvl="0"/>
            <a:r>
              <a:rPr/>
              <a:t>Specialist tools, Grammarly, Otter.ai, Beautiful.ai</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Assistant Remembers You</a:t>
            </a:r>
          </a:p>
        </p:txBody>
      </p:sp>
      <p:sp>
        <p:nvSpPr>
          <p:cNvPr id="3" name="Content Placeholder 2"/>
          <p:cNvSpPr>
            <a:spLocks noGrp="1"/>
          </p:cNvSpPr>
          <p:nvPr>
            <p:ph idx="1"/>
          </p:nvPr>
        </p:nvSpPr>
        <p:spPr/>
        <p:txBody>
          <a:bodyPr/>
          <a:lstStyle/>
          <a:p>
            <a:pPr lvl="0" indent="0" marL="0">
              <a:buNone/>
            </a:pPr>
            <a:r>
              <a:rPr b="1"/>
              <a:t>Assistants learn across sessions. Three separate stores:</a:t>
            </a:r>
          </a:p>
          <a:p>
            <a:pPr lvl="0" indent="-342900" marL="342900">
              <a:buAutoNum type="arabicPeriod"/>
            </a:pPr>
            <a:r>
              <a:rPr b="1"/>
              <a:t>What you told it</a:t>
            </a:r>
            <a:r>
              <a:rPr/>
              <a:t>: explicit facts you asked it to save</a:t>
            </a:r>
          </a:p>
          <a:p>
            <a:pPr lvl="0" indent="-342900" marL="342900">
              <a:buAutoNum type="arabicPeriod"/>
            </a:pPr>
            <a:r>
              <a:rPr b="1"/>
              <a:t>What it inferred</a:t>
            </a:r>
            <a:r>
              <a:rPr/>
              <a:t>: patterns drawn from your chats (deleting chats ≠ deleting this)</a:t>
            </a:r>
          </a:p>
          <a:p>
            <a:pPr lvl="0" indent="-342900" marL="342900">
              <a:buAutoNum type="arabicPeriod"/>
            </a:pPr>
            <a:r>
              <a:rPr b="1"/>
              <a:t>The chats themselves</a:t>
            </a:r>
            <a:r>
              <a:rPr/>
              <a:t>: the history you can see</a:t>
            </a:r>
          </a:p>
          <a:p>
            <a:pPr lvl="0" indent="0" marL="0">
              <a:buNone/>
            </a:pPr>
            <a:r>
              <a:rPr b="1"/>
              <a:t>Review periodically. Use private mode for what you don’t want learned.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Framework 4: AI Opportunity Finder</a:t>
            </a:r>
          </a:p>
        </p:txBody>
      </p:sp>
      <p:sp>
        <p:nvSpPr>
          <p:cNvPr id="3" name="Content Placeholder 2"/>
          <p:cNvSpPr>
            <a:spLocks noGrp="1"/>
          </p:cNvSpPr>
          <p:nvPr>
            <p:ph idx="1"/>
          </p:nvPr>
        </p:nvSpPr>
        <p:spPr>
          <a:xfrm>
            <a:off x="457200" y="1193800"/>
            <a:ext cx="8229600" cy="838200"/>
          </a:xfrm>
        </p:spPr>
        <p:txBody>
          <a:bodyPr/>
          <a:lstStyle/>
          <a:p>
            <a:pPr lvl="0" indent="0" marL="0">
              <a:buNone/>
            </a:pPr>
            <a:r>
              <a:rPr b="1"/>
              <a:t>Four types of AI opportunity in your daily work:</a:t>
            </a:r>
          </a:p>
        </p:txBody>
      </p:sp>
      <p:graphicFrame>
        <p:nvGraphicFramePr>
          <p:cNvPr id="6" name="Content Placeholder 5"/>
          <p:cNvGraphicFramePr>
            <a:graphicFrameLocks noGrp="1"/>
          </p:cNvGraphicFramePr>
          <p:nvPr>
            <p:ph idx="1"/>
          </p:nvPr>
        </p:nvGraphicFramePr>
        <p:xfrm>
          <a:off x="457200" y="2159000"/>
          <a:ext cx="8229600" cy="2298700"/>
        </p:xfrm>
        <a:graphic>
          <a:graphicData uri="http://schemas.openxmlformats.org/drawingml/2006/table">
            <a:tbl>
              <a:tblPr firstRow="1" bandRow="1">
                <a:tableStyleId>{5C22544A-7EE6-4342-B048-85BDC9FD1C3A}</a:tableStyleId>
              </a:tblPr>
              <a:tblGrid>
                <a:gridCol w="1905000"/>
                <a:gridCol w="3479800"/>
                <a:gridCol w="2844800"/>
              </a:tblGrid>
              <a:tr h="0">
                <a:tc>
                  <a:txBody>
                    <a:bodyPr/>
                    <a:lstStyle/>
                    <a:p>
                      <a:pPr lvl="0" indent="0" marL="0">
                        <a:buNone/>
                      </a:pPr>
                      <a:r>
                        <a:rPr/>
                        <a:t>Type</a:t>
                      </a:r>
                    </a:p>
                  </a:txBody>
                  <a:tcPr/>
                </a:tc>
                <a:tc>
                  <a:txBody>
                    <a:bodyPr/>
                    <a:lstStyle/>
                    <a:p>
                      <a:pPr lvl="0" indent="0" marL="0">
                        <a:buNone/>
                      </a:pPr>
                      <a:r>
                        <a:rPr/>
                        <a:t>The Signal</a:t>
                      </a:r>
                    </a:p>
                  </a:txBody>
                  <a:tcPr/>
                </a:tc>
                <a:tc>
                  <a:txBody>
                    <a:bodyPr/>
                    <a:lstStyle/>
                    <a:p>
                      <a:pPr lvl="0" indent="0" marL="0">
                        <a:buNone/>
                      </a:pPr>
                      <a:r>
                        <a:rPr/>
                        <a:t>Example</a:t>
                      </a:r>
                    </a:p>
                  </a:txBody>
                  <a:tcPr/>
                </a:tc>
              </a:tr>
              <a:tr h="0">
                <a:tc>
                  <a:txBody>
                    <a:bodyPr/>
                    <a:lstStyle/>
                    <a:p>
                      <a:pPr lvl="0" indent="0" marL="0">
                        <a:buNone/>
                      </a:pPr>
                      <a:r>
                        <a:rPr b="1"/>
                        <a:t>Automate</a:t>
                      </a:r>
                    </a:p>
                  </a:txBody>
                </a:tc>
                <a:tc>
                  <a:txBody>
                    <a:bodyPr/>
                    <a:lstStyle/>
                    <a:p>
                      <a:pPr lvl="0" indent="0" marL="0">
                        <a:buNone/>
                      </a:pPr>
                      <a:r>
                        <a:rPr/>
                        <a:t>High-volume, repetitive, no judgment</a:t>
                      </a:r>
                    </a:p>
                  </a:txBody>
                </a:tc>
                <a:tc>
                  <a:txBody>
                    <a:bodyPr/>
                    <a:lstStyle/>
                    <a:p>
                      <a:pPr lvl="0" indent="0" marL="0">
                        <a:buNone/>
                      </a:pPr>
                      <a:r>
                        <a:rPr/>
                        <a:t>Formatting reports, sorting emails</a:t>
                      </a:r>
                    </a:p>
                  </a:txBody>
                </a:tc>
              </a:tr>
              <a:tr h="0">
                <a:tc>
                  <a:txBody>
                    <a:bodyPr/>
                    <a:lstStyle/>
                    <a:p>
                      <a:pPr lvl="0" indent="0" marL="0">
                        <a:buNone/>
                      </a:pPr>
                      <a:r>
                        <a:rPr b="1"/>
                        <a:t>Assist</a:t>
                      </a:r>
                    </a:p>
                  </a:txBody>
                </a:tc>
                <a:tc>
                  <a:txBody>
                    <a:bodyPr/>
                    <a:lstStyle/>
                    <a:p>
                      <a:pPr lvl="0" indent="0" marL="0">
                        <a:buNone/>
                      </a:pPr>
                      <a:r>
                        <a:rPr/>
                        <a:t>Research, synthesis, gathering</a:t>
                      </a:r>
                    </a:p>
                  </a:txBody>
                </a:tc>
                <a:tc>
                  <a:txBody>
                    <a:bodyPr/>
                    <a:lstStyle/>
                    <a:p>
                      <a:pPr lvl="0" indent="0" marL="0">
                        <a:buNone/>
                      </a:pPr>
                      <a:r>
                        <a:rPr/>
                        <a:t>Summarising documents, comparing proposals</a:t>
                      </a:r>
                    </a:p>
                  </a:txBody>
                </a:tc>
              </a:tr>
              <a:tr h="0">
                <a:tc>
                  <a:txBody>
                    <a:bodyPr/>
                    <a:lstStyle/>
                    <a:p>
                      <a:pPr lvl="0" indent="0" marL="0">
                        <a:buNone/>
                      </a:pPr>
                      <a:r>
                        <a:rPr b="1"/>
                        <a:t>Generate</a:t>
                      </a:r>
                    </a:p>
                  </a:txBody>
                </a:tc>
                <a:tc>
                  <a:txBody>
                    <a:bodyPr/>
                    <a:lstStyle/>
                    <a:p>
                      <a:pPr lvl="0" indent="0" marL="0">
                        <a:buNone/>
                      </a:pPr>
                      <a:r>
                        <a:rPr/>
                        <a:t>Writing, drafting, content creation</a:t>
                      </a:r>
                    </a:p>
                  </a:txBody>
                </a:tc>
                <a:tc>
                  <a:txBody>
                    <a:bodyPr/>
                    <a:lstStyle/>
                    <a:p>
                      <a:pPr lvl="0" indent="0" marL="0">
                        <a:buNone/>
                      </a:pPr>
                      <a:r>
                        <a:rPr/>
                        <a:t>Client emails, meeting agendas, job postings</a:t>
                      </a:r>
                    </a:p>
                  </a:txBody>
                </a:tc>
              </a:tr>
              <a:tr h="0">
                <a:tc>
                  <a:txBody>
                    <a:bodyPr/>
                    <a:lstStyle/>
                    <a:p>
                      <a:pPr lvl="0" indent="0" marL="0">
                        <a:buNone/>
                      </a:pPr>
                      <a:r>
                        <a:rPr b="1"/>
                        <a:t>Analyse</a:t>
                      </a:r>
                    </a:p>
                  </a:txBody>
                </a:tc>
                <a:tc>
                  <a:txBody>
                    <a:bodyPr/>
                    <a:lstStyle/>
                    <a:p>
                      <a:pPr lvl="0" indent="0" marL="0">
                        <a:buNone/>
                      </a:pPr>
                      <a:r>
                        <a:rPr/>
                        <a:t>Data, patterns, trends</a:t>
                      </a:r>
                    </a:p>
                  </a:txBody>
                </a:tc>
                <a:tc>
                  <a:txBody>
                    <a:bodyPr/>
                    <a:lstStyle/>
                    <a:p>
                      <a:pPr lvl="0" indent="0" marL="0">
                        <a:buNone/>
                      </a:pPr>
                      <a:r>
                        <a:rPr/>
                        <a:t>Monthly performance, customer feedback</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Start with Quick Wins</a:t>
            </a:r>
          </a:p>
        </p:txBody>
      </p:sp>
      <p:sp>
        <p:nvSpPr>
          <p:cNvPr id="3" name="Content Placeholder 2"/>
          <p:cNvSpPr>
            <a:spLocks noGrp="1"/>
          </p:cNvSpPr>
          <p:nvPr>
            <p:ph idx="1"/>
          </p:nvPr>
        </p:nvSpPr>
        <p:spPr/>
        <p:txBody>
          <a:bodyPr/>
          <a:lstStyle/>
          <a:p>
            <a:pPr lvl="0" indent="0" marL="0">
              <a:buNone/>
            </a:pPr>
          </a:p>
          <a:p>
            <a:pPr lvl="0" indent="0">
              <a:buNone/>
            </a:pPr>
            <a:r>
              <a:rPr>
                <a:latin typeface="Courier"/>
              </a:rPr>
              <a:t>                HIGH time saved
                     |
     Quick Wins      |     Big Wins
   (do these first)  |   (plan for these)
                     |
LOW effort ——————————+———————————— HIGH effort
                     |
   Low Priority      |     Worth It Later
                     |
                LOW time saved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This Is Heading: Agents and Skills</a:t>
            </a:r>
          </a:p>
        </p:txBody>
      </p:sp>
      <p:sp>
        <p:nvSpPr>
          <p:cNvPr id="3" name="Content Placeholder 2"/>
          <p:cNvSpPr>
            <a:spLocks noGrp="1"/>
          </p:cNvSpPr>
          <p:nvPr>
            <p:ph idx="1"/>
          </p:nvPr>
        </p:nvSpPr>
        <p:spPr/>
        <p:txBody>
          <a:bodyPr/>
          <a:lstStyle/>
          <a:p>
            <a:pPr lvl="0" indent="0" marL="0">
              <a:buNone/>
            </a:pPr>
            <a:r>
              <a:rPr/>
              <a:t>You’ll hear three words over the next year: </a:t>
            </a:r>
            <a:r>
              <a:rPr b="1"/>
              <a:t>agent</a:t>
            </a:r>
            <a:r>
              <a:rPr/>
              <a:t>, </a:t>
            </a:r>
            <a:r>
              <a:rPr b="1"/>
              <a:t>harness</a:t>
            </a:r>
            <a:r>
              <a:rPr/>
              <a:t>, </a:t>
            </a:r>
            <a:r>
              <a:rPr b="1"/>
              <a:t>skill</a:t>
            </a:r>
            <a:r>
              <a:rPr/>
              <a:t>.</a:t>
            </a:r>
          </a:p>
          <a:p>
            <a:pPr lvl="0" indent="0" marL="0">
              <a:buNone/>
            </a:pPr>
            <a:r>
              <a:rPr/>
              <a:t>An </a:t>
            </a:r>
            <a:r>
              <a:rPr b="1"/>
              <a:t>agent</a:t>
            </a:r>
            <a:r>
              <a:rPr/>
              <a:t> is a model in a loop with tools: it drafts, checks, calls something, tries again, until the job is done.</a:t>
            </a:r>
          </a:p>
          <a:p>
            <a:pPr lvl="0" indent="0" marL="0">
              <a:buNone/>
            </a:pPr>
            <a:r>
              <a:rPr/>
              <a:t>What shapes that loop is the </a:t>
            </a:r>
            <a:r>
              <a:rPr b="1"/>
              <a:t>harness</a:t>
            </a:r>
            <a:r>
              <a:rPr/>
              <a:t>: the software around the model. Its standing instructions, the context it can read, the tools it may call, and the model it runs on.</a:t>
            </a:r>
          </a:p>
          <a:p>
            <a:pPr lvl="0" indent="0" marL="0">
              <a:buNone/>
            </a:pPr>
            <a:r>
              <a:rPr/>
              <a:t>The part you own is the </a:t>
            </a:r>
            <a:r>
              <a:rPr b="1"/>
              <a:t>skill</a:t>
            </a:r>
            <a:r>
              <a:rPr/>
              <a:t>: a plain-text brief in a folder that the harness loads when your request matches it. Write it once and it works in any harness.</a:t>
            </a:r>
          </a:p>
          <a:p>
            <a:pPr lvl="0" indent="0" marL="0">
              <a:buNone/>
            </a:pPr>
            <a:r>
              <a:rPr b="1"/>
              <a:t>And the trust tool still rules: an agent automates the loop, not the standard.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4: Your AI-Enhanced Workflow</a:t>
            </a:r>
          </a:p>
        </p:txBody>
      </p:sp>
      <p:sp>
        <p:nvSpPr>
          <p:cNvPr id="3" name="Content Placeholder 2"/>
          <p:cNvSpPr>
            <a:spLocks noGrp="1"/>
          </p:cNvSpPr>
          <p:nvPr>
            <p:ph idx="1"/>
          </p:nvPr>
        </p:nvSpPr>
        <p:spPr/>
        <p:txBody>
          <a:bodyPr/>
          <a:lstStyle/>
          <a:p>
            <a:pPr lvl="0" indent="0" marL="0">
              <a:buNone/>
            </a:pPr>
          </a:p>
          <a:p>
            <a:pPr lvl="0" indent="0" marL="0">
              <a:buNone/>
            </a:pPr>
            <a:r>
              <a:rPr b="1"/>
              <a:t>Your real work. Your real workflow. Redesigned with AI.</a:t>
            </a:r>
          </a:p>
          <a:p>
            <a:pPr lvl="0" indent="-342900" marL="342900">
              <a:buAutoNum type="arabicPeriod"/>
            </a:pPr>
            <a:r>
              <a:rPr b="1"/>
              <a:t>Map</a:t>
            </a:r>
            <a:r>
              <a:rPr/>
              <a:t> your current workflow (10 min)</a:t>
            </a:r>
          </a:p>
          <a:p>
            <a:pPr lvl="0" indent="-342900" marL="342900">
              <a:buAutoNum type="arabicPeriod"/>
            </a:pPr>
            <a:r>
              <a:rPr b="1"/>
              <a:t>Redesign</a:t>
            </a:r>
            <a:r>
              <a:rPr/>
              <a:t> with AI at each applicable step (15 min)</a:t>
            </a:r>
          </a:p>
          <a:p>
            <a:pPr lvl="0" indent="-342900" marL="342900">
              <a:buAutoNum type="arabicPeriod"/>
            </a:pPr>
            <a:r>
              <a:rPr b="1"/>
              <a:t>Test</a:t>
            </a:r>
            <a:r>
              <a:rPr/>
              <a:t> one step live (10 min)</a:t>
            </a:r>
          </a:p>
          <a:p>
            <a:pPr lvl="0" indent="-342900" marL="342900">
              <a:buAutoNum type="arabicPeriod"/>
            </a:pPr>
            <a:r>
              <a:rPr b="1"/>
              <a:t>Share</a:t>
            </a:r>
            <a:r>
              <a:rPr/>
              <a:t> your before/after with your table (5 min)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Built Today</a:t>
            </a:r>
          </a:p>
        </p:txBody>
      </p:sp>
      <p:sp>
        <p:nvSpPr>
          <p:cNvPr id="3" name="Content Placeholder 2"/>
          <p:cNvSpPr>
            <a:spLocks noGrp="1"/>
          </p:cNvSpPr>
          <p:nvPr>
            <p:ph idx="1"/>
          </p:nvPr>
        </p:nvSpPr>
        <p:spPr/>
        <p:txBody>
          <a:bodyPr/>
          <a:lstStyle/>
          <a:p>
            <a:pPr lvl="0" indent="0" marL="0">
              <a:buNone/>
            </a:pPr>
          </a:p>
          <a:p>
            <a:pPr lvl="0" indent="0" marL="0">
              <a:buNone/>
            </a:pPr>
            <a:r>
              <a:rPr b="1"/>
              <a:t>One spine. Four frameworks. Four skills.</a:t>
            </a:r>
          </a:p>
          <a:p>
            <a:pPr lvl="0" indent="0" marL="0">
              <a:buNone/>
            </a:pPr>
            <a:r>
              <a:rPr b="1"/>
              <a:t>The Trust Tool</a:t>
            </a:r>
            <a:r>
              <a:rPr/>
              <a:t> → Know HOW MUCH to trust any output, on any tool</a:t>
            </a:r>
          </a:p>
          <a:p>
            <a:pPr lvl="0" indent="-342900" marL="342900">
              <a:buAutoNum type="arabicPeriod"/>
            </a:pPr>
            <a:r>
              <a:rPr b="1"/>
              <a:t>AI Task Suitability Spectrum</a:t>
            </a:r>
            <a:r>
              <a:rPr/>
              <a:t> → Know WHEN to use AI</a:t>
            </a:r>
          </a:p>
          <a:p>
            <a:pPr lvl="0" indent="-342900" marL="342900">
              <a:buAutoNum type="arabicPeriod"/>
            </a:pPr>
            <a:r>
              <a:rPr b="1"/>
              <a:t>RTCF Prompt Framework</a:t>
            </a:r>
            <a:r>
              <a:rPr/>
              <a:t> → Know HOW to brief AI</a:t>
            </a:r>
          </a:p>
          <a:p>
            <a:pPr lvl="0" indent="-342900" marL="342900">
              <a:buAutoNum type="arabicPeriod"/>
            </a:pPr>
            <a:r>
              <a:rPr b="1"/>
              <a:t>AI-Assisted Analysis Workflow</a:t>
            </a:r>
            <a:r>
              <a:rPr/>
              <a:t> → Know how to use AI with DATA</a:t>
            </a:r>
          </a:p>
          <a:p>
            <a:pPr lvl="0" indent="-342900" marL="342900">
              <a:buAutoNum type="arabicPeriod"/>
            </a:pPr>
            <a:r>
              <a:rPr b="1"/>
              <a:t>AI Opportunity Finder</a:t>
            </a:r>
            <a:r>
              <a:rPr/>
              <a:t> → Know WHERE AI fits in your work</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Principles</a:t>
            </a:r>
          </a:p>
        </p:txBody>
      </p:sp>
      <p:sp>
        <p:nvSpPr>
          <p:cNvPr id="3" name="Content Placeholder 2"/>
          <p:cNvSpPr>
            <a:spLocks noGrp="1"/>
          </p:cNvSpPr>
          <p:nvPr>
            <p:ph idx="1"/>
          </p:nvPr>
        </p:nvSpPr>
        <p:spPr/>
        <p:txBody>
          <a:bodyPr/>
          <a:lstStyle/>
          <a:p>
            <a:pPr lvl="0"/>
            <a:r>
              <a:rPr b="1"/>
              <a:t>Conversation, not delegation</a:t>
            </a:r>
            <a:r>
              <a:rPr/>
              <a:t>: brief it like a capable colleague; you supply the substance</a:t>
            </a:r>
          </a:p>
          <a:p>
            <a:pPr lvl="0"/>
            <a:r>
              <a:rPr b="1"/>
              <a:t>Your judgement is the edge</a:t>
            </a:r>
            <a:r>
              <a:rPr/>
              <a:t>: everyone has the same tools; what you add is what differentiates</a:t>
            </a:r>
          </a:p>
          <a:p>
            <a:pPr lvl="0"/>
            <a:r>
              <a:rPr b="1"/>
              <a:t>Verify from outside</a:t>
            </a:r>
            <a:r>
              <a:rPr/>
              <a:t>: the tool can’t check its own work; that check is yours</a:t>
            </a:r>
          </a:p>
          <a:p>
            <a:pPr lvl="0"/>
            <a:r>
              <a:rPr b="1"/>
              <a:t>Start small, build confidence</a:t>
            </a:r>
            <a:r>
              <a:rPr/>
              <a:t>: quick wins first</a:t>
            </a:r>
          </a:p>
          <a:p>
            <a:pPr lvl="0"/>
            <a:r>
              <a:rPr b="1"/>
              <a:t>Iterate, don’t accept</a:t>
            </a:r>
            <a:r>
              <a:rPr/>
              <a:t>: first drafts are starting points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Action Plan</a:t>
            </a:r>
          </a:p>
        </p:txBody>
      </p:sp>
      <p:sp>
        <p:nvSpPr>
          <p:cNvPr id="3" name="Content Placeholder 2"/>
          <p:cNvSpPr>
            <a:spLocks noGrp="1"/>
          </p:cNvSpPr>
          <p:nvPr>
            <p:ph idx="1"/>
          </p:nvPr>
        </p:nvSpPr>
        <p:spPr/>
        <p:txBody>
          <a:bodyPr/>
          <a:lstStyle/>
          <a:p>
            <a:pPr lvl="0" indent="0" marL="0">
              <a:buNone/>
            </a:pPr>
          </a:p>
          <a:p>
            <a:pPr lvl="0" indent="0" marL="0">
              <a:buNone/>
            </a:pPr>
            <a:r>
              <a:rPr b="1"/>
              <a:t>Four moves, then repeat:</a:t>
            </a:r>
          </a:p>
          <a:p>
            <a:pPr lvl="0" indent="0" marL="0">
              <a:buNone/>
            </a:pPr>
            <a:r>
              <a:rPr b="1"/>
              <a:t>Decide</a:t>
            </a:r>
            <a:r>
              <a:rPr/>
              <a:t> → what must human eyes still judge? </a:t>
            </a:r>
            <a:r>
              <a:rPr b="1"/>
              <a:t>Practise</a:t>
            </a:r>
            <a:r>
              <a:rPr/>
              <a:t> → run the compare drill there </a:t>
            </a:r>
            <a:r>
              <a:rPr b="1"/>
              <a:t>Trade</a:t>
            </a:r>
            <a:r>
              <a:rPr/>
              <a:t> → hand over what AI has proven reliable </a:t>
            </a:r>
            <a:r>
              <a:rPr b="1"/>
              <a:t>Revisit</a:t>
            </a:r>
            <a:r>
              <a:rPr/>
              <a:t> → every few months; the line has moved</a:t>
            </a:r>
          </a:p>
          <a:p>
            <a:pPr lvl="0" indent="0" marL="0">
              <a:buNone/>
            </a:pPr>
            <a:r>
              <a:rPr b="1"/>
              <a:t>This Week:</a:t>
            </a:r>
            <a:r>
              <a:rPr/>
              <a:t> What is the ONE AI tool or technique you’ll try?</a:t>
            </a:r>
          </a:p>
          <a:p>
            <a:pPr lvl="0" indent="0" marL="0">
              <a:buNone/>
            </a:pPr>
            <a:r>
              <a:rPr b="1"/>
              <a:t>This Month:</a:t>
            </a:r>
            <a:r>
              <a:rPr/>
              <a:t> What workflow will you redesign with AI?</a:t>
            </a:r>
          </a:p>
          <a:p>
            <a:pPr lvl="0" indent="0" marL="0">
              <a:buNone/>
            </a:pPr>
            <a:r>
              <a:rPr b="1"/>
              <a:t>This Quarter:</a:t>
            </a:r>
            <a:r>
              <a:rPr/>
              <a:t> What AI skill will you develop further?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Continue the Journey</a:t>
            </a:r>
          </a:p>
        </p:txBody>
      </p:sp>
      <p:sp>
        <p:nvSpPr>
          <p:cNvPr id="3" name="Content Placeholder 2"/>
          <p:cNvSpPr>
            <a:spLocks noGrp="1"/>
          </p:cNvSpPr>
          <p:nvPr>
            <p:ph idx="1"/>
          </p:nvPr>
        </p:nvSpPr>
        <p:spPr/>
        <p:txBody>
          <a:bodyPr/>
          <a:lstStyle/>
          <a:p>
            <a:pPr lvl="0" indent="0" marL="0">
              <a:buNone/>
            </a:pPr>
            <a:r>
              <a:rPr b="1"/>
              <a:t>Next in the series:</a:t>
            </a:r>
          </a:p>
          <a:p>
            <a:pPr lvl="0" indent="0" marL="0">
              <a:buNone/>
            </a:pPr>
            <a:r>
              <a:rPr b="1"/>
              <a:t>AI-Driven Business Innovation</a:t>
            </a:r>
            <a:r>
              <a:rPr/>
              <a:t> </a:t>
            </a:r>
            <a:r>
              <a:rPr i="1"/>
              <a:t>“Which AI project should we fund?”</a:t>
            </a:r>
            <a:r>
              <a:rPr/>
              <a:t> Strategic frameworks for AI investment decisions.</a:t>
            </a:r>
          </a:p>
          <a:p>
            <a:pPr lvl="0" indent="0" marL="0">
              <a:buNone/>
            </a:pPr>
            <a:r>
              <a:rPr b="1"/>
              <a:t>AI Leadership &amp; Project Management</a:t>
            </a:r>
            <a:r>
              <a:rPr/>
              <a:t> </a:t>
            </a:r>
            <a:r>
              <a:rPr i="1"/>
              <a:t>“How do I deliver this AI project?”</a:t>
            </a:r>
            <a:r>
              <a:rPr/>
              <a:t> Leading successful AI implementations.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b="1"/>
              <a:t>Apply what you learned.</a:t>
            </a:r>
            <a:r>
              <a:rPr/>
              <a:t> </a:t>
            </a:r>
            <a:r>
              <a:rPr b="1"/>
              <a:t>Start small. Verify always. Build from there.</a:t>
            </a:r>
          </a:p>
          <a:p>
            <a:pPr lvl="0" indent="0" marL="0">
              <a:buNone/>
            </a:pPr>
            <a:r>
              <a:rPr/>
              <a:t>Dr. Michael Borck michael.borck@curtin.edu.au</a:t>
            </a:r>
          </a:p>
          <a:p>
            <a:pPr lvl="0" indent="0" marL="0">
              <a:buNone/>
            </a:p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AI for Professionals</dc:title>
  <dc:creator>Dr. Michael Borck</dc:creator>
  <cp:keywords/>
  <dcterms:created xsi:type="dcterms:W3CDTF">2026-10-26T00:00:11Z</dcterms:created>
  <dcterms:modified xsi:type="dcterms:W3CDTF">2026-10-26T00:00:11Z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vt:lpwstr/>
  </property>
  <property fmtid="{D5CDD505-2E9C-101B-9397-08002B2CF9AE}" pid="3" name="subtitle">
    <vt:lpwstr>A Hands-On Workshop for Using AI in Your Daily Work</vt:lpwstr>
  </property>
</Properties>
</file>